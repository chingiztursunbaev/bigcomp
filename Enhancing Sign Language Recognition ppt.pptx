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1" r:id="rId3"/>
  </p:sldMasterIdLst>
  <p:notesMasterIdLst>
    <p:notesMasterId r:id="rId13"/>
  </p:notesMasterIdLst>
  <p:sldIdLst>
    <p:sldId id="256" r:id="rId4"/>
    <p:sldId id="260" r:id="rId5"/>
    <p:sldId id="257" r:id="rId6"/>
    <p:sldId id="258" r:id="rId7"/>
    <p:sldId id="259" r:id="rId8"/>
    <p:sldId id="261" r:id="rId9"/>
    <p:sldId id="262" r:id="rId10"/>
    <p:sldId id="263" r:id="rId11"/>
    <p:sldId id="264"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showGuides="1">
      <p:cViewPr varScale="1">
        <p:scale>
          <a:sx n="150" d="100"/>
          <a:sy n="150" d="100"/>
        </p:scale>
        <p:origin x="624"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723446-675B-428F-9CA7-50435E5B50BE}"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04B7F-BA7E-419E-B29A-BA07580B4A70}" type="slidenum">
              <a:rPr lang="en-US" smtClean="0"/>
              <a:t>‹#›</a:t>
            </a:fld>
            <a:endParaRPr lang="en-US"/>
          </a:p>
        </p:txBody>
      </p:sp>
    </p:spTree>
    <p:extLst>
      <p:ext uri="{BB962C8B-B14F-4D97-AF65-F5344CB8AC3E}">
        <p14:creationId xmlns:p14="http://schemas.microsoft.com/office/powerpoint/2010/main" val="2294291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Chingiz Tursunbaev from the Voice AI Research Center at </a:t>
            </a:r>
            <a:r>
              <a:rPr lang="en-US" dirty="0" err="1"/>
              <a:t>Inha</a:t>
            </a:r>
            <a:r>
              <a:rPr lang="en-US" dirty="0"/>
              <a:t> University.</a:t>
            </a:r>
          </a:p>
          <a:p>
            <a:r>
              <a:rPr lang="en-US" dirty="0"/>
              <a:t>Today, I am presenting our latest research titled 'Enhancing Sign Language Recognition.' We are proposing a new multi-modal approach that is not only interpretable but also computationally efficient enough for real-world use.</a:t>
            </a:r>
          </a:p>
        </p:txBody>
      </p:sp>
      <p:sp>
        <p:nvSpPr>
          <p:cNvPr id="4" name="Slide Number Placeholder 3"/>
          <p:cNvSpPr>
            <a:spLocks noGrp="1"/>
          </p:cNvSpPr>
          <p:nvPr>
            <p:ph type="sldNum" sz="quarter" idx="5"/>
          </p:nvPr>
        </p:nvSpPr>
        <p:spPr/>
        <p:txBody>
          <a:bodyPr/>
          <a:lstStyle/>
          <a:p>
            <a:fld id="{A9604B7F-BA7E-419E-B29A-BA07580B4A70}" type="slidenum">
              <a:rPr lang="en-US" smtClean="0"/>
              <a:t>1</a:t>
            </a:fld>
            <a:endParaRPr lang="en-US"/>
          </a:p>
        </p:txBody>
      </p:sp>
    </p:spTree>
    <p:extLst>
      <p:ext uri="{BB962C8B-B14F-4D97-AF65-F5344CB8AC3E}">
        <p14:creationId xmlns:p14="http://schemas.microsoft.com/office/powerpoint/2010/main" val="215622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we did this research, we first need to look at the current problem in the field, which we call the 'Robustness-Efficiency' Gap.</a:t>
            </a:r>
          </a:p>
          <a:p>
            <a:endParaRPr lang="en-US" dirty="0"/>
          </a:p>
          <a:p>
            <a:r>
              <a:rPr lang="en-US" dirty="0"/>
              <a:t>Right now, Sign Language Recognition systems face a conflict. If you want high accuracy, you usually have to use heavy models that rely on Optical Flow or massive Graph Neural Networks. These are accurate, but they are 'black boxes' and far too slow for real-time applications.</a:t>
            </a:r>
          </a:p>
          <a:p>
            <a:endParaRPr lang="en-US" dirty="0"/>
          </a:p>
          <a:p>
            <a:r>
              <a:rPr lang="en-US" dirty="0"/>
              <a:t>On the other hand, if you try to make these models faster, they often fail when it matters most—like when a signer moves their hands very quickly or when hands are occluded. Our goal was to solve this trade-off: to build a system that is robust against rapid motion but light enough to run efficiently.</a:t>
            </a:r>
          </a:p>
        </p:txBody>
      </p:sp>
      <p:sp>
        <p:nvSpPr>
          <p:cNvPr id="4" name="Slide Number Placeholder 3"/>
          <p:cNvSpPr>
            <a:spLocks noGrp="1"/>
          </p:cNvSpPr>
          <p:nvPr>
            <p:ph type="sldNum" sz="quarter" idx="5"/>
          </p:nvPr>
        </p:nvSpPr>
        <p:spPr/>
        <p:txBody>
          <a:bodyPr/>
          <a:lstStyle/>
          <a:p>
            <a:fld id="{A9604B7F-BA7E-419E-B29A-BA07580B4A70}" type="slidenum">
              <a:rPr lang="en-US" smtClean="0"/>
              <a:t>2</a:t>
            </a:fld>
            <a:endParaRPr lang="en-US"/>
          </a:p>
        </p:txBody>
      </p:sp>
    </p:spTree>
    <p:extLst>
      <p:ext uri="{BB962C8B-B14F-4D97-AF65-F5344CB8AC3E}">
        <p14:creationId xmlns:p14="http://schemas.microsoft.com/office/powerpoint/2010/main" val="691377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solve this trade-off between speed and accuracy, we introduced our core contribution: the Doppler Motion Stream.</a:t>
            </a:r>
          </a:p>
          <a:p>
            <a:endParaRPr lang="en-US" dirty="0"/>
          </a:p>
          <a:p>
            <a:r>
              <a:rPr lang="en-US" dirty="0"/>
              <a:t>We drew inspiration from physics. In the real world, the Doppler effect uses frequency shifts to detect motion. In our computer vision approach, we use Frame Differencing as a computational analog.</a:t>
            </a:r>
          </a:p>
          <a:p>
            <a:endParaRPr lang="en-US" dirty="0"/>
          </a:p>
          <a:p>
            <a:r>
              <a:rPr lang="en-US" dirty="0"/>
              <a:t>The math is incredibly simple, as you can see in the equation here. We just take the absolute difference between the current frame and the previous one.</a:t>
            </a:r>
          </a:p>
          <a:p>
            <a:endParaRPr lang="en-US" dirty="0"/>
          </a:p>
          <a:p>
            <a:r>
              <a:rPr lang="en-US" dirty="0"/>
              <a:t>This simple operation does two powerful things for us: First, it suppresses noise. Since static objects—like walls or furniture—don't change from frame to frame, their difference is zero. This means the background naturally disappears, forcing the model to focus only on the signer. Second, it enhances edges. When a hand moves rapidly, it creates a strong difference boundary. This effectively sketches the 'trajectory' of the gesture in real-time. Instead of motion blur confusing the model, this stream turns that blur into a strong, clear signal of movement.</a:t>
            </a:r>
          </a:p>
        </p:txBody>
      </p:sp>
      <p:sp>
        <p:nvSpPr>
          <p:cNvPr id="4" name="Slide Number Placeholder 3"/>
          <p:cNvSpPr>
            <a:spLocks noGrp="1"/>
          </p:cNvSpPr>
          <p:nvPr>
            <p:ph type="sldNum" sz="quarter" idx="5"/>
          </p:nvPr>
        </p:nvSpPr>
        <p:spPr/>
        <p:txBody>
          <a:bodyPr/>
          <a:lstStyle/>
          <a:p>
            <a:fld id="{A9604B7F-BA7E-419E-B29A-BA07580B4A70}" type="slidenum">
              <a:rPr lang="en-US" smtClean="0"/>
              <a:t>3</a:t>
            </a:fld>
            <a:endParaRPr lang="en-US"/>
          </a:p>
        </p:txBody>
      </p:sp>
    </p:spTree>
    <p:extLst>
      <p:ext uri="{BB962C8B-B14F-4D97-AF65-F5344CB8AC3E}">
        <p14:creationId xmlns:p14="http://schemas.microsoft.com/office/powerpoint/2010/main" val="672488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integrated this concept into a Multi-Stream Architecture. As you can see in the diagram, our model processes three parallel streams.</a:t>
            </a:r>
          </a:p>
          <a:p>
            <a:endParaRPr lang="en-US" dirty="0"/>
          </a:p>
          <a:p>
            <a:r>
              <a:rPr lang="en-US" dirty="0"/>
              <a:t>First, we have the Video Stream which handles standard RGB data to capture texture and context. Second, we have the Keypoint Stream, which extracts structural details using 79 body keypoints. And finally, the Doppler Stream, which explicitly models the dynamics of the gesture.</a:t>
            </a:r>
          </a:p>
          <a:p>
            <a:endParaRPr lang="en-US" dirty="0"/>
          </a:p>
          <a:p>
            <a:r>
              <a:rPr lang="en-US" dirty="0"/>
              <a:t>Crucially, these streams are processed independently before being fused at a late stage. This ensures that the network learns complementary features—texture, structure, and movement—without interfering with each other.</a:t>
            </a:r>
          </a:p>
        </p:txBody>
      </p:sp>
      <p:sp>
        <p:nvSpPr>
          <p:cNvPr id="4" name="Slide Number Placeholder 3"/>
          <p:cNvSpPr>
            <a:spLocks noGrp="1"/>
          </p:cNvSpPr>
          <p:nvPr>
            <p:ph type="sldNum" sz="quarter" idx="5"/>
          </p:nvPr>
        </p:nvSpPr>
        <p:spPr/>
        <p:txBody>
          <a:bodyPr/>
          <a:lstStyle/>
          <a:p>
            <a:fld id="{A9604B7F-BA7E-419E-B29A-BA07580B4A70}" type="slidenum">
              <a:rPr lang="en-US" smtClean="0"/>
              <a:t>4</a:t>
            </a:fld>
            <a:endParaRPr lang="en-US"/>
          </a:p>
        </p:txBody>
      </p:sp>
    </p:spTree>
    <p:extLst>
      <p:ext uri="{BB962C8B-B14F-4D97-AF65-F5344CB8AC3E}">
        <p14:creationId xmlns:p14="http://schemas.microsoft.com/office/powerpoint/2010/main" val="4069695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question is: Why choose our Doppler method over traditional Optical Flow? The answer lies in complexity and clarity.</a:t>
            </a:r>
          </a:p>
          <a:p>
            <a:r>
              <a:rPr lang="en-US" dirty="0"/>
              <a:t>Optical Flow is expensive because it requires solving complex optimization equations for every pixel. Our Doppler stream, by contrast, is a simple O(1) operation—it is instant.</a:t>
            </a:r>
          </a:p>
          <a:p>
            <a:r>
              <a:rPr lang="en-US" dirty="0"/>
              <a:t>You can see the difference visually in the trajectories on this slide. The 'Raw Joint Trajectory' on the left is often noisy and full of micro-jitters. The 'Doppler-Enhanced Trajectory' on the right is smooth and clearly emphasizes the directional flow of the sign. It filters out the noise and leaves us with pure motion data.</a:t>
            </a:r>
          </a:p>
        </p:txBody>
      </p:sp>
      <p:sp>
        <p:nvSpPr>
          <p:cNvPr id="4" name="Slide Number Placeholder 3"/>
          <p:cNvSpPr>
            <a:spLocks noGrp="1"/>
          </p:cNvSpPr>
          <p:nvPr>
            <p:ph type="sldNum" sz="quarter" idx="5"/>
          </p:nvPr>
        </p:nvSpPr>
        <p:spPr/>
        <p:txBody>
          <a:bodyPr/>
          <a:lstStyle/>
          <a:p>
            <a:fld id="{A9604B7F-BA7E-419E-B29A-BA07580B4A70}" type="slidenum">
              <a:rPr lang="en-US" smtClean="0"/>
              <a:t>5</a:t>
            </a:fld>
            <a:endParaRPr lang="en-US"/>
          </a:p>
        </p:txBody>
      </p:sp>
    </p:spTree>
    <p:extLst>
      <p:ext uri="{BB962C8B-B14F-4D97-AF65-F5344CB8AC3E}">
        <p14:creationId xmlns:p14="http://schemas.microsoft.com/office/powerpoint/2010/main" val="329058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our approach on the standard benchmarks, including Phoenix-2014 and CSL-Daily.</a:t>
            </a:r>
          </a:p>
          <a:p>
            <a:endParaRPr lang="en-US" dirty="0"/>
          </a:p>
          <a:p>
            <a:r>
              <a:rPr lang="en-US" dirty="0"/>
              <a:t>As you can see in the table, our method achieves a Word Error Rate of 18.05% on the Phoenix dataset. This result outperforms not only the baselines but also recent state-of-the-art models like the ICASSP 2024 entry.</a:t>
            </a:r>
          </a:p>
          <a:p>
            <a:endParaRPr lang="en-US" dirty="0"/>
          </a:p>
          <a:p>
            <a:r>
              <a:rPr lang="en-US" dirty="0"/>
              <a:t>Our ablation study confirmed that adding the Doppler stream was the decisive factor, dropping the error rate significantly compared to using just Video and Keypoints.</a:t>
            </a:r>
          </a:p>
        </p:txBody>
      </p:sp>
      <p:sp>
        <p:nvSpPr>
          <p:cNvPr id="4" name="Slide Number Placeholder 3"/>
          <p:cNvSpPr>
            <a:spLocks noGrp="1"/>
          </p:cNvSpPr>
          <p:nvPr>
            <p:ph type="sldNum" sz="quarter" idx="5"/>
          </p:nvPr>
        </p:nvSpPr>
        <p:spPr/>
        <p:txBody>
          <a:bodyPr/>
          <a:lstStyle/>
          <a:p>
            <a:fld id="{A9604B7F-BA7E-419E-B29A-BA07580B4A70}" type="slidenum">
              <a:rPr lang="en-US" smtClean="0"/>
              <a:t>6</a:t>
            </a:fld>
            <a:endParaRPr lang="en-US"/>
          </a:p>
        </p:txBody>
      </p:sp>
    </p:spTree>
    <p:extLst>
      <p:ext uri="{BB962C8B-B14F-4D97-AF65-F5344CB8AC3E}">
        <p14:creationId xmlns:p14="http://schemas.microsoft.com/office/powerpoint/2010/main" val="4207616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 most significant result of this work is not just the accuracy, but the efficiency.</a:t>
            </a:r>
          </a:p>
          <a:p>
            <a:endParaRPr lang="en-US" dirty="0"/>
          </a:p>
          <a:p>
            <a:r>
              <a:rPr lang="en-US" dirty="0"/>
              <a:t>Our model size is only 74 MB. When we look at computational cost, we use only 120 GFLOPs, which is a 77% reduction compared to competitive models that require over 500 GFLOPs.</a:t>
            </a:r>
          </a:p>
          <a:p>
            <a:endParaRPr lang="en-US" dirty="0"/>
          </a:p>
          <a:p>
            <a:r>
              <a:rPr lang="en-US" dirty="0"/>
              <a:t>Furthermore, the model proved to be highly robust. In tests with 'Rapid' gestures—where motion blur typically causes models to fail—our Doppler stream actually performed better. This is because faster movement generates a stronger Doppler signal, helping the network track the hands even when they are moving too fast for the naked eye.</a:t>
            </a:r>
          </a:p>
        </p:txBody>
      </p:sp>
      <p:sp>
        <p:nvSpPr>
          <p:cNvPr id="4" name="Slide Number Placeholder 3"/>
          <p:cNvSpPr>
            <a:spLocks noGrp="1"/>
          </p:cNvSpPr>
          <p:nvPr>
            <p:ph type="sldNum" sz="quarter" idx="5"/>
          </p:nvPr>
        </p:nvSpPr>
        <p:spPr/>
        <p:txBody>
          <a:bodyPr/>
          <a:lstStyle/>
          <a:p>
            <a:fld id="{A9604B7F-BA7E-419E-B29A-BA07580B4A70}" type="slidenum">
              <a:rPr lang="en-US" smtClean="0"/>
              <a:t>7</a:t>
            </a:fld>
            <a:endParaRPr lang="en-US"/>
          </a:p>
        </p:txBody>
      </p:sp>
    </p:spTree>
    <p:extLst>
      <p:ext uri="{BB962C8B-B14F-4D97-AF65-F5344CB8AC3E}">
        <p14:creationId xmlns:p14="http://schemas.microsoft.com/office/powerpoint/2010/main" val="794752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 most significant result of this work is not just the accuracy, but the efficiency.</a:t>
            </a:r>
          </a:p>
          <a:p>
            <a:endParaRPr lang="en-US" dirty="0"/>
          </a:p>
          <a:p>
            <a:r>
              <a:rPr lang="en-US" dirty="0"/>
              <a:t>Our model size is only 74 MB. When we look at computational cost, we use only 120 GFLOPs, which is a 77% reduction compared to competitive models that require over 500 GFLOPs.</a:t>
            </a:r>
          </a:p>
          <a:p>
            <a:endParaRPr lang="en-US" dirty="0"/>
          </a:p>
          <a:p>
            <a:r>
              <a:rPr lang="en-US" dirty="0"/>
              <a:t>Furthermore, the model proved to be highly robust. In tests with 'Rapid' gestures—where motion blur typically causes models to fail—our Doppler stream actually performed better. This is because faster movement generates a stronger Doppler signal, helping the network track the hands even when they are moving too fast for the naked eye.</a:t>
            </a:r>
          </a:p>
        </p:txBody>
      </p:sp>
      <p:sp>
        <p:nvSpPr>
          <p:cNvPr id="4" name="Slide Number Placeholder 3"/>
          <p:cNvSpPr>
            <a:spLocks noGrp="1"/>
          </p:cNvSpPr>
          <p:nvPr>
            <p:ph type="sldNum" sz="quarter" idx="5"/>
          </p:nvPr>
        </p:nvSpPr>
        <p:spPr/>
        <p:txBody>
          <a:bodyPr/>
          <a:lstStyle/>
          <a:p>
            <a:fld id="{A9604B7F-BA7E-419E-B29A-BA07580B4A70}" type="slidenum">
              <a:rPr lang="en-US" smtClean="0"/>
              <a:t>8</a:t>
            </a:fld>
            <a:endParaRPr lang="en-US"/>
          </a:p>
        </p:txBody>
      </p:sp>
    </p:spTree>
    <p:extLst>
      <p:ext uri="{BB962C8B-B14F-4D97-AF65-F5344CB8AC3E}">
        <p14:creationId xmlns:p14="http://schemas.microsoft.com/office/powerpoint/2010/main" val="2655749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a:t>
            </a:r>
          </a:p>
          <a:p>
            <a:endParaRPr lang="en-US" dirty="0"/>
          </a:p>
          <a:p>
            <a:r>
              <a:rPr lang="en-US" dirty="0"/>
              <a:t>I have included a QR code to my LinkedIn here if you would like to connect or discuss this research further. </a:t>
            </a:r>
            <a:r>
              <a:rPr lang="en-US"/>
              <a:t>I am now happy to take any questions you may have.</a:t>
            </a:r>
          </a:p>
        </p:txBody>
      </p:sp>
      <p:sp>
        <p:nvSpPr>
          <p:cNvPr id="4" name="Slide Number Placeholder 3"/>
          <p:cNvSpPr>
            <a:spLocks noGrp="1"/>
          </p:cNvSpPr>
          <p:nvPr>
            <p:ph type="sldNum" sz="quarter" idx="5"/>
          </p:nvPr>
        </p:nvSpPr>
        <p:spPr/>
        <p:txBody>
          <a:bodyPr/>
          <a:lstStyle/>
          <a:p>
            <a:fld id="{A9604B7F-BA7E-419E-B29A-BA07580B4A70}" type="slidenum">
              <a:rPr lang="en-US" smtClean="0"/>
              <a:t>9</a:t>
            </a:fld>
            <a:endParaRPr lang="en-US"/>
          </a:p>
        </p:txBody>
      </p:sp>
    </p:spTree>
    <p:extLst>
      <p:ext uri="{BB962C8B-B14F-4D97-AF65-F5344CB8AC3E}">
        <p14:creationId xmlns:p14="http://schemas.microsoft.com/office/powerpoint/2010/main" val="1736672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4BD92-2852-C01E-0D13-D8DD2A7A19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5492E2-05DC-3F93-5490-1BF8C8B43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426EEF-7F36-DBA5-5E32-011C448A571C}"/>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5" name="Footer Placeholder 4">
            <a:extLst>
              <a:ext uri="{FF2B5EF4-FFF2-40B4-BE49-F238E27FC236}">
                <a16:creationId xmlns:a16="http://schemas.microsoft.com/office/drawing/2014/main" id="{F565C80C-5331-DF92-4A32-20897DC311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635E4F-2CCB-8119-0B8C-6EDEBAE921E8}"/>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1903072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8B2D3-91D1-9A0D-0D1E-449FB0160D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E99D20-4058-A3ED-AB6D-05A8A5B87B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E8C71-F633-9922-7D82-9FA29E6C9163}"/>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5" name="Footer Placeholder 4">
            <a:extLst>
              <a:ext uri="{FF2B5EF4-FFF2-40B4-BE49-F238E27FC236}">
                <a16:creationId xmlns:a16="http://schemas.microsoft.com/office/drawing/2014/main" id="{64FD8439-1887-B98D-3852-81A56AFCB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D0D46D-9288-FD35-54AA-A6D224A40457}"/>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334738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3742A-54C4-3319-1A12-607721B876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B8AD20-21E0-0A64-4A33-A3888BAEC9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D2F385-E9E1-3642-061B-C23CFF916AD7}"/>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5" name="Footer Placeholder 4">
            <a:extLst>
              <a:ext uri="{FF2B5EF4-FFF2-40B4-BE49-F238E27FC236}">
                <a16:creationId xmlns:a16="http://schemas.microsoft.com/office/drawing/2014/main" id="{8B6BBE29-0199-E8CE-B4DD-6B1CD4FB13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E23CA-4F29-221F-11C3-874F63ED733D}"/>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1675830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705DA-5677-63F6-7A68-E52C04DAB0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DE346-1448-E61E-E40E-AC220D5E8C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95658D-E290-24DC-1A3B-31970068EC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DDB556-9C18-5322-8508-AD55EF080C83}"/>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6" name="Footer Placeholder 5">
            <a:extLst>
              <a:ext uri="{FF2B5EF4-FFF2-40B4-BE49-F238E27FC236}">
                <a16:creationId xmlns:a16="http://schemas.microsoft.com/office/drawing/2014/main" id="{E6D3AB62-08AC-6A1B-DE84-E8596BA710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40490D-4E22-BF17-4B1B-DAD55E6E7986}"/>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3800359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2E7C-2002-1B22-D37A-317F418FF1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231A8E-8B05-7DDA-9627-92FA009F74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A59768-F7AC-469E-0095-3933747B9B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A97C12-2AE2-7F5A-067E-07A865536D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371D05-3217-8759-D74D-FD4896D13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2137FF-30ED-3046-AC16-1139AD4DB684}"/>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8" name="Footer Placeholder 7">
            <a:extLst>
              <a:ext uri="{FF2B5EF4-FFF2-40B4-BE49-F238E27FC236}">
                <a16:creationId xmlns:a16="http://schemas.microsoft.com/office/drawing/2014/main" id="{F156190B-8561-DAB7-7BF1-CB5CAC40BD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87F15F-7A22-ABD7-0E80-1EE59C6A16F3}"/>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196646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A02F1-A12A-C9F6-C03F-E2923C934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0AF4E6-5BF1-5031-A9DC-AC55764F3BDA}"/>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4" name="Footer Placeholder 3">
            <a:extLst>
              <a:ext uri="{FF2B5EF4-FFF2-40B4-BE49-F238E27FC236}">
                <a16:creationId xmlns:a16="http://schemas.microsoft.com/office/drawing/2014/main" id="{05A846EA-C714-4FB4-FEBA-BC0ED96072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E273DF-7213-624E-EE49-E4164A7B07A4}"/>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4135481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5CE452-A16C-7624-F6D9-7F048DEC00A5}"/>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3" name="Footer Placeholder 2">
            <a:extLst>
              <a:ext uri="{FF2B5EF4-FFF2-40B4-BE49-F238E27FC236}">
                <a16:creationId xmlns:a16="http://schemas.microsoft.com/office/drawing/2014/main" id="{C2F94C37-087B-58A0-B6E5-DA6F21F7A1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957CC3-DD99-FD2E-9693-846D0E9C07F4}"/>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3084689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135FE-7216-A877-6FF5-E83D8C967A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4F363E-7A8F-1C0B-45A7-7295F2B1B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4AA289-800F-3623-FBCE-7356F799A4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4E6CDA-86B6-7F6F-D83B-B95DDE6D178E}"/>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6" name="Footer Placeholder 5">
            <a:extLst>
              <a:ext uri="{FF2B5EF4-FFF2-40B4-BE49-F238E27FC236}">
                <a16:creationId xmlns:a16="http://schemas.microsoft.com/office/drawing/2014/main" id="{A2F21D6D-02CF-4F96-FC3F-D93DCB1836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5633B8-1E32-3DED-615C-09FFD4A58371}"/>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1238110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A6FB-B0DD-2199-B655-5DC5D8F416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5F2019-D559-B993-9477-D5D8A87CE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1FC76CF-481D-03A0-8B40-FDDDF54BE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B6ABD-209C-7AAE-2570-8BFF12873199}"/>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6" name="Footer Placeholder 5">
            <a:extLst>
              <a:ext uri="{FF2B5EF4-FFF2-40B4-BE49-F238E27FC236}">
                <a16:creationId xmlns:a16="http://schemas.microsoft.com/office/drawing/2014/main" id="{7535D3A2-818C-4922-F27E-7A8A24EC1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EE1FA-D4A6-1AD1-AAB0-4F41D2B4B89F}"/>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3556436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CBA9-AA70-31F1-0620-0EF26465F6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C04CE9-C7E1-E843-CAEB-665DF5AA79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012CBA-A3B0-447B-400A-7DA4244023CB}"/>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5" name="Footer Placeholder 4">
            <a:extLst>
              <a:ext uri="{FF2B5EF4-FFF2-40B4-BE49-F238E27FC236}">
                <a16:creationId xmlns:a16="http://schemas.microsoft.com/office/drawing/2014/main" id="{444E4A93-6AB0-0B92-98F9-C0D265EA4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B7EA4F-1A2D-0400-C40B-2153644C7C50}"/>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837025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F7D4A-92D7-BB55-D474-7B34B753F8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5A0B79-724A-7145-1CDB-35FFF3E662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61858-D4F8-A00B-A6E9-3F98DB2161A5}"/>
              </a:ext>
            </a:extLst>
          </p:cNvPr>
          <p:cNvSpPr>
            <a:spLocks noGrp="1"/>
          </p:cNvSpPr>
          <p:nvPr>
            <p:ph type="dt" sz="half" idx="10"/>
          </p:nvPr>
        </p:nvSpPr>
        <p:spPr/>
        <p:txBody>
          <a:bodyPr/>
          <a:lstStyle/>
          <a:p>
            <a:fld id="{F021CF01-A0E6-4A7F-BE5B-3DC7CD927776}" type="datetimeFigureOut">
              <a:rPr lang="en-US" smtClean="0"/>
              <a:t>1/30/2026</a:t>
            </a:fld>
            <a:endParaRPr lang="en-US"/>
          </a:p>
        </p:txBody>
      </p:sp>
      <p:sp>
        <p:nvSpPr>
          <p:cNvPr id="5" name="Footer Placeholder 4">
            <a:extLst>
              <a:ext uri="{FF2B5EF4-FFF2-40B4-BE49-F238E27FC236}">
                <a16:creationId xmlns:a16="http://schemas.microsoft.com/office/drawing/2014/main" id="{5B80D66E-42C8-DEAB-3CF1-54E407606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F65CB-B26F-7D56-49E3-E86216E8E902}"/>
              </a:ext>
            </a:extLst>
          </p:cNvPr>
          <p:cNvSpPr>
            <a:spLocks noGrp="1"/>
          </p:cNvSpPr>
          <p:nvPr>
            <p:ph type="sldNum" sz="quarter" idx="12"/>
          </p:nvPr>
        </p:nvSpPr>
        <p:spPr/>
        <p:txBody>
          <a:bodyPr/>
          <a:lstStyle/>
          <a:p>
            <a:fld id="{64B3660E-7EFD-4385-8015-8E89A972BEB3}" type="slidenum">
              <a:rPr lang="en-US" smtClean="0"/>
              <a:t>‹#›</a:t>
            </a:fld>
            <a:endParaRPr lang="en-US"/>
          </a:p>
        </p:txBody>
      </p:sp>
    </p:spTree>
    <p:extLst>
      <p:ext uri="{BB962C8B-B14F-4D97-AF65-F5344CB8AC3E}">
        <p14:creationId xmlns:p14="http://schemas.microsoft.com/office/powerpoint/2010/main" val="518624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0" y="558800"/>
            <a:ext cx="12192000" cy="3591960"/>
          </a:xfrm>
        </p:spPr>
        <p:txBody>
          <a:bodyPr anchor="ctr">
            <a:normAutofit/>
          </a:bodyPr>
          <a:lstStyle>
            <a:lvl1pPr algn="ctr">
              <a:defRPr sz="4400">
                <a:solidFill>
                  <a:srgbClr val="002060"/>
                </a:solidFill>
                <a:effectLst>
                  <a:outerShdw blurRad="38100" dist="38100" dir="2700000" algn="tl">
                    <a:srgbClr val="000000">
                      <a:alpha val="43137"/>
                    </a:srgbClr>
                  </a:outerShdw>
                </a:effectLst>
              </a:defRPr>
            </a:lvl1pPr>
          </a:lstStyle>
          <a:p>
            <a:r>
              <a:rPr lang="en-US" altLang="ko-KR"/>
              <a:t>Click to edit Master title style</a:t>
            </a:r>
            <a:endParaRPr lang="ko-KR" altLang="en-US" dirty="0"/>
          </a:p>
        </p:txBody>
      </p:sp>
      <p:sp>
        <p:nvSpPr>
          <p:cNvPr id="3" name="Subtitle 2"/>
          <p:cNvSpPr>
            <a:spLocks noGrp="1"/>
          </p:cNvSpPr>
          <p:nvPr>
            <p:ph type="subTitle" idx="1"/>
          </p:nvPr>
        </p:nvSpPr>
        <p:spPr>
          <a:xfrm>
            <a:off x="0" y="4869952"/>
            <a:ext cx="12192000" cy="143838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dirty="0"/>
          </a:p>
        </p:txBody>
      </p:sp>
    </p:spTree>
    <p:extLst>
      <p:ext uri="{BB962C8B-B14F-4D97-AF65-F5344CB8AC3E}">
        <p14:creationId xmlns:p14="http://schemas.microsoft.com/office/powerpoint/2010/main" val="1006248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ko-KR" altLang="en-US" dirty="0"/>
          </a:p>
        </p:txBody>
      </p:sp>
      <p:sp>
        <p:nvSpPr>
          <p:cNvPr id="3" name="Content Placeholder 2"/>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Footer Placeholder 4"/>
          <p:cNvSpPr>
            <a:spLocks noGrp="1"/>
          </p:cNvSpPr>
          <p:nvPr>
            <p:ph type="ftr" sz="quarter" idx="11"/>
          </p:nvPr>
        </p:nvSpPr>
        <p:spPr>
          <a:xfrm>
            <a:off x="1853597" y="6492875"/>
            <a:ext cx="9407260" cy="357745"/>
          </a:xfrm>
        </p:spPr>
        <p:txBody>
          <a:bodyPr/>
          <a:lstStyle/>
          <a:p>
            <a:r>
              <a:rPr lang="ko-KR" altLang="en-US"/>
              <a:t>딥 러닝 기초 과정</a:t>
            </a:r>
            <a:endParaRPr lang="ko-KR" altLang="en-US" dirty="0"/>
          </a:p>
        </p:txBody>
      </p:sp>
      <p:cxnSp>
        <p:nvCxnSpPr>
          <p:cNvPr id="8" name="Straight Connector 7"/>
          <p:cNvCxnSpPr/>
          <p:nvPr/>
        </p:nvCxnSpPr>
        <p:spPr>
          <a:xfrm>
            <a:off x="0" y="682029"/>
            <a:ext cx="7551506" cy="0"/>
          </a:xfrm>
          <a:prstGeom prst="line">
            <a:avLst/>
          </a:prstGeom>
          <a:ln w="28575">
            <a:solidFill>
              <a:srgbClr val="002994"/>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551506" y="682029"/>
            <a:ext cx="3595955" cy="0"/>
          </a:xfrm>
          <a:prstGeom prst="line">
            <a:avLst/>
          </a:prstGeom>
          <a:ln w="28575">
            <a:solidFill>
              <a:srgbClr val="000000"/>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147461" y="682029"/>
            <a:ext cx="1044539" cy="0"/>
          </a:xfrm>
          <a:prstGeom prst="line">
            <a:avLst/>
          </a:prstGeom>
          <a:ln w="28575">
            <a:solidFill>
              <a:schemeClr val="bg2">
                <a:lumMod val="75000"/>
              </a:schemeClr>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pic>
        <p:nvPicPr>
          <p:cNvPr id="13" name="Picture 6" descr="C:\Users\admin\AppData\Local\Temp\_AZTMP10_\Signature_05.jpg">
            <a:extLst>
              <a:ext uri="{FF2B5EF4-FFF2-40B4-BE49-F238E27FC236}">
                <a16:creationId xmlns:a16="http://schemas.microsoft.com/office/drawing/2014/main" id="{DC87FF9A-F81D-44C3-A51F-6FEEED5A3B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9" b="13518"/>
          <a:stretch/>
        </p:blipFill>
        <p:spPr bwMode="auto">
          <a:xfrm>
            <a:off x="338666" y="6482241"/>
            <a:ext cx="1514931" cy="365125"/>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5">
            <a:extLst>
              <a:ext uri="{FF2B5EF4-FFF2-40B4-BE49-F238E27FC236}">
                <a16:creationId xmlns:a16="http://schemas.microsoft.com/office/drawing/2014/main" id="{AF117F5A-1DB4-4755-B4CB-B897EC86A453}"/>
              </a:ext>
            </a:extLst>
          </p:cNvPr>
          <p:cNvSpPr>
            <a:spLocks noGrp="1"/>
          </p:cNvSpPr>
          <p:nvPr>
            <p:ph type="sldNum" sz="quarter" idx="4"/>
          </p:nvPr>
        </p:nvSpPr>
        <p:spPr>
          <a:xfrm>
            <a:off x="11260857" y="6492875"/>
            <a:ext cx="592476" cy="357745"/>
          </a:xfrm>
          <a:prstGeom prst="rect">
            <a:avLst/>
          </a:prstGeom>
        </p:spPr>
        <p:txBody>
          <a:bodyPr vert="horz" lIns="91440" tIns="45720" rIns="91440" bIns="45720" rtlCol="0" anchor="ctr"/>
          <a:lstStyle>
            <a:lvl1pPr algn="r">
              <a:defRPr sz="1800" b="1">
                <a:solidFill>
                  <a:schemeClr val="tx1">
                    <a:tint val="75000"/>
                  </a:schemeClr>
                </a:solidFill>
                <a:latin typeface="Book Antiqua" panose="02040602050305030304" pitchFamily="18" charset="0"/>
              </a:defRPr>
            </a:lvl1pPr>
          </a:lstStyle>
          <a:p>
            <a:fld id="{1C8FA38B-43AE-4C7F-AC62-93C06D579860}" type="slidenum">
              <a:rPr lang="ko-KR" altLang="en-US" smtClean="0"/>
              <a:pPr/>
              <a:t>‹#›</a:t>
            </a:fld>
            <a:endParaRPr lang="ko-KR" altLang="en-US" dirty="0"/>
          </a:p>
        </p:txBody>
      </p:sp>
    </p:spTree>
    <p:extLst>
      <p:ext uri="{BB962C8B-B14F-4D97-AF65-F5344CB8AC3E}">
        <p14:creationId xmlns:p14="http://schemas.microsoft.com/office/powerpoint/2010/main" val="115333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nly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8667" y="548640"/>
            <a:ext cx="11514666" cy="575902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cxnSp>
        <p:nvCxnSpPr>
          <p:cNvPr id="7" name="Straight Connector 6"/>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sp>
        <p:nvSpPr>
          <p:cNvPr id="6" name="Footer Placeholder 4">
            <a:extLst>
              <a:ext uri="{FF2B5EF4-FFF2-40B4-BE49-F238E27FC236}">
                <a16:creationId xmlns:a16="http://schemas.microsoft.com/office/drawing/2014/main" id="{AFFF3219-614D-412B-A3D7-384D333A9EC7}"/>
              </a:ext>
            </a:extLst>
          </p:cNvPr>
          <p:cNvSpPr>
            <a:spLocks noGrp="1"/>
          </p:cNvSpPr>
          <p:nvPr>
            <p:ph type="ftr" sz="quarter" idx="11"/>
          </p:nvPr>
        </p:nvSpPr>
        <p:spPr>
          <a:xfrm>
            <a:off x="1853597" y="6492875"/>
            <a:ext cx="9407260" cy="357745"/>
          </a:xfrm>
        </p:spPr>
        <p:txBody>
          <a:bodyPr/>
          <a:lstStyle/>
          <a:p>
            <a:r>
              <a:rPr lang="ko-KR" altLang="en-US"/>
              <a:t>딥 러닝 기초 과정</a:t>
            </a:r>
            <a:endParaRPr lang="ko-KR" altLang="en-US" dirty="0"/>
          </a:p>
        </p:txBody>
      </p:sp>
      <p:cxnSp>
        <p:nvCxnSpPr>
          <p:cNvPr id="9" name="Straight Connector 8">
            <a:extLst>
              <a:ext uri="{FF2B5EF4-FFF2-40B4-BE49-F238E27FC236}">
                <a16:creationId xmlns:a16="http://schemas.microsoft.com/office/drawing/2014/main" id="{A75744DA-F22B-4CA6-8561-A4E6E1789440}"/>
              </a:ext>
            </a:extLst>
          </p:cNvPr>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pic>
        <p:nvPicPr>
          <p:cNvPr id="10" name="Picture 6" descr="C:\Users\admin\AppData\Local\Temp\_AZTMP10_\Signature_05.jpg">
            <a:extLst>
              <a:ext uri="{FF2B5EF4-FFF2-40B4-BE49-F238E27FC236}">
                <a16:creationId xmlns:a16="http://schemas.microsoft.com/office/drawing/2014/main" id="{3B5761A7-2737-4D74-8361-FABE6C48AB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9" b="13518"/>
          <a:stretch/>
        </p:blipFill>
        <p:spPr bwMode="auto">
          <a:xfrm>
            <a:off x="338666" y="6482241"/>
            <a:ext cx="1514931" cy="365125"/>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5">
            <a:extLst>
              <a:ext uri="{FF2B5EF4-FFF2-40B4-BE49-F238E27FC236}">
                <a16:creationId xmlns:a16="http://schemas.microsoft.com/office/drawing/2014/main" id="{22A398A7-9FB1-49B5-BC48-7EBFCFC6045C}"/>
              </a:ext>
            </a:extLst>
          </p:cNvPr>
          <p:cNvSpPr>
            <a:spLocks noGrp="1"/>
          </p:cNvSpPr>
          <p:nvPr>
            <p:ph type="sldNum" sz="quarter" idx="4"/>
          </p:nvPr>
        </p:nvSpPr>
        <p:spPr>
          <a:xfrm>
            <a:off x="11260857" y="6492875"/>
            <a:ext cx="592476" cy="357745"/>
          </a:xfrm>
          <a:prstGeom prst="rect">
            <a:avLst/>
          </a:prstGeom>
        </p:spPr>
        <p:txBody>
          <a:bodyPr vert="horz" lIns="91440" tIns="45720" rIns="91440" bIns="45720" rtlCol="0" anchor="ctr"/>
          <a:lstStyle>
            <a:lvl1pPr algn="r">
              <a:defRPr sz="1800" b="1">
                <a:solidFill>
                  <a:schemeClr val="tx1">
                    <a:tint val="75000"/>
                  </a:schemeClr>
                </a:solidFill>
                <a:latin typeface="Book Antiqua" panose="02040602050305030304" pitchFamily="18" charset="0"/>
              </a:defRPr>
            </a:lvl1pPr>
          </a:lstStyle>
          <a:p>
            <a:fld id="{1C8FA38B-43AE-4C7F-AC62-93C06D579860}" type="slidenum">
              <a:rPr lang="ko-KR" altLang="en-US" smtClean="0"/>
              <a:pPr/>
              <a:t>‹#›</a:t>
            </a:fld>
            <a:endParaRPr lang="ko-KR" altLang="en-US" dirty="0"/>
          </a:p>
        </p:txBody>
      </p:sp>
    </p:spTree>
    <p:extLst>
      <p:ext uri="{BB962C8B-B14F-4D97-AF65-F5344CB8AC3E}">
        <p14:creationId xmlns:p14="http://schemas.microsoft.com/office/powerpoint/2010/main" val="2244768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0" y="1277938"/>
            <a:ext cx="12179300" cy="2908300"/>
          </a:xfrm>
        </p:spPr>
        <p:txBody>
          <a:bodyPr anchor="b">
            <a:normAutofit/>
          </a:bodyPr>
          <a:lstStyle>
            <a:lvl1pPr>
              <a:tabLst>
                <a:tab pos="1612900" algn="l"/>
              </a:tabLst>
              <a:defRPr sz="5400">
                <a:effectLst>
                  <a:outerShdw blurRad="38100" dist="38100" dir="2700000" algn="tl">
                    <a:srgbClr val="000000">
                      <a:alpha val="43137"/>
                    </a:srgbClr>
                  </a:outerShdw>
                </a:effectLst>
              </a:defRPr>
            </a:lvl1pPr>
          </a:lstStyle>
          <a:p>
            <a:r>
              <a:rPr lang="en-US" altLang="ko-KR"/>
              <a:t>Click to edit Master title style</a:t>
            </a:r>
            <a:endParaRPr lang="ko-KR" altLang="en-US" dirty="0"/>
          </a:p>
        </p:txBody>
      </p:sp>
      <p:sp>
        <p:nvSpPr>
          <p:cNvPr id="3" name="Text Placeholder 2"/>
          <p:cNvSpPr>
            <a:spLocks noGrp="1"/>
          </p:cNvSpPr>
          <p:nvPr>
            <p:ph type="body" idx="1"/>
          </p:nvPr>
        </p:nvSpPr>
        <p:spPr>
          <a:xfrm>
            <a:off x="0" y="4589463"/>
            <a:ext cx="121793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a:t>Click to edit Master text styles</a:t>
            </a:r>
          </a:p>
        </p:txBody>
      </p:sp>
    </p:spTree>
    <p:extLst>
      <p:ext uri="{BB962C8B-B14F-4D97-AF65-F5344CB8AC3E}">
        <p14:creationId xmlns:p14="http://schemas.microsoft.com/office/powerpoint/2010/main" val="3682474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ko-KR" altLang="en-US"/>
          </a:p>
        </p:txBody>
      </p:sp>
      <p:sp>
        <p:nvSpPr>
          <p:cNvPr id="3" name="Content Placeholder 2"/>
          <p:cNvSpPr>
            <a:spLocks noGrp="1"/>
          </p:cNvSpPr>
          <p:nvPr>
            <p:ph sz="half" idx="1"/>
          </p:nvPr>
        </p:nvSpPr>
        <p:spPr>
          <a:xfrm>
            <a:off x="338666" y="883579"/>
            <a:ext cx="5681134" cy="5430136"/>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sp>
        <p:nvSpPr>
          <p:cNvPr id="4" name="Content Placeholder 3"/>
          <p:cNvSpPr>
            <a:spLocks noGrp="1"/>
          </p:cNvSpPr>
          <p:nvPr>
            <p:ph sz="half" idx="2"/>
          </p:nvPr>
        </p:nvSpPr>
        <p:spPr>
          <a:xfrm>
            <a:off x="6172200" y="883579"/>
            <a:ext cx="5681133" cy="5430136"/>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cxnSp>
        <p:nvCxnSpPr>
          <p:cNvPr id="8" name="Straight Connector 7"/>
          <p:cNvCxnSpPr/>
          <p:nvPr/>
        </p:nvCxnSpPr>
        <p:spPr>
          <a:xfrm>
            <a:off x="0" y="682029"/>
            <a:ext cx="7551506" cy="0"/>
          </a:xfrm>
          <a:prstGeom prst="line">
            <a:avLst/>
          </a:prstGeom>
          <a:ln w="28575">
            <a:solidFill>
              <a:srgbClr val="002994"/>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551506" y="682029"/>
            <a:ext cx="3595955" cy="0"/>
          </a:xfrm>
          <a:prstGeom prst="line">
            <a:avLst/>
          </a:prstGeom>
          <a:ln w="28575">
            <a:solidFill>
              <a:srgbClr val="000000"/>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147461" y="682029"/>
            <a:ext cx="1044539" cy="0"/>
          </a:xfrm>
          <a:prstGeom prst="line">
            <a:avLst/>
          </a:prstGeom>
          <a:ln w="28575">
            <a:solidFill>
              <a:schemeClr val="bg2">
                <a:lumMod val="75000"/>
              </a:schemeClr>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sp>
        <p:nvSpPr>
          <p:cNvPr id="13" name="Footer Placeholder 4">
            <a:extLst>
              <a:ext uri="{FF2B5EF4-FFF2-40B4-BE49-F238E27FC236}">
                <a16:creationId xmlns:a16="http://schemas.microsoft.com/office/drawing/2014/main" id="{72ED8B56-3605-4A53-BEA0-EFB92A399C9B}"/>
              </a:ext>
            </a:extLst>
          </p:cNvPr>
          <p:cNvSpPr>
            <a:spLocks noGrp="1"/>
          </p:cNvSpPr>
          <p:nvPr>
            <p:ph type="ftr" sz="quarter" idx="11"/>
          </p:nvPr>
        </p:nvSpPr>
        <p:spPr>
          <a:xfrm>
            <a:off x="1853597" y="6492875"/>
            <a:ext cx="9407260" cy="357745"/>
          </a:xfrm>
        </p:spPr>
        <p:txBody>
          <a:bodyPr/>
          <a:lstStyle/>
          <a:p>
            <a:r>
              <a:rPr lang="ko-KR" altLang="en-US"/>
              <a:t>딥 러닝 기초 과정</a:t>
            </a:r>
            <a:endParaRPr lang="ko-KR" altLang="en-US" dirty="0"/>
          </a:p>
        </p:txBody>
      </p:sp>
      <p:cxnSp>
        <p:nvCxnSpPr>
          <p:cNvPr id="15" name="Straight Connector 14">
            <a:extLst>
              <a:ext uri="{FF2B5EF4-FFF2-40B4-BE49-F238E27FC236}">
                <a16:creationId xmlns:a16="http://schemas.microsoft.com/office/drawing/2014/main" id="{5855B3EF-008B-4213-9C64-AF4FF3C7439A}"/>
              </a:ext>
            </a:extLst>
          </p:cNvPr>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pic>
        <p:nvPicPr>
          <p:cNvPr id="16" name="Picture 6" descr="C:\Users\admin\AppData\Local\Temp\_AZTMP10_\Signature_05.jpg">
            <a:extLst>
              <a:ext uri="{FF2B5EF4-FFF2-40B4-BE49-F238E27FC236}">
                <a16:creationId xmlns:a16="http://schemas.microsoft.com/office/drawing/2014/main" id="{2B97DAC5-0BA1-4EB9-A7C9-B3900D2135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9" b="13518"/>
          <a:stretch/>
        </p:blipFill>
        <p:spPr bwMode="auto">
          <a:xfrm>
            <a:off x="338666" y="6482241"/>
            <a:ext cx="1514931" cy="365125"/>
          </a:xfrm>
          <a:prstGeom prst="rect">
            <a:avLst/>
          </a:prstGeom>
          <a:noFill/>
          <a:extLst>
            <a:ext uri="{909E8E84-426E-40DD-AFC4-6F175D3DCCD1}">
              <a14:hiddenFill xmlns:a14="http://schemas.microsoft.com/office/drawing/2010/main">
                <a:solidFill>
                  <a:srgbClr val="FFFFFF"/>
                </a:solidFill>
              </a14:hiddenFill>
            </a:ext>
          </a:extLst>
        </p:spPr>
      </p:pic>
      <p:sp>
        <p:nvSpPr>
          <p:cNvPr id="17" name="Slide Number Placeholder 5">
            <a:extLst>
              <a:ext uri="{FF2B5EF4-FFF2-40B4-BE49-F238E27FC236}">
                <a16:creationId xmlns:a16="http://schemas.microsoft.com/office/drawing/2014/main" id="{B68DC3DB-3624-42B5-9C28-E4132A844185}"/>
              </a:ext>
            </a:extLst>
          </p:cNvPr>
          <p:cNvSpPr>
            <a:spLocks noGrp="1"/>
          </p:cNvSpPr>
          <p:nvPr>
            <p:ph type="sldNum" sz="quarter" idx="4"/>
          </p:nvPr>
        </p:nvSpPr>
        <p:spPr>
          <a:xfrm>
            <a:off x="11260857" y="6492875"/>
            <a:ext cx="592476" cy="357745"/>
          </a:xfrm>
          <a:prstGeom prst="rect">
            <a:avLst/>
          </a:prstGeom>
        </p:spPr>
        <p:txBody>
          <a:bodyPr vert="horz" lIns="91440" tIns="45720" rIns="91440" bIns="45720" rtlCol="0" anchor="ctr"/>
          <a:lstStyle>
            <a:lvl1pPr algn="r">
              <a:defRPr sz="1800" b="1">
                <a:solidFill>
                  <a:schemeClr val="tx1">
                    <a:tint val="75000"/>
                  </a:schemeClr>
                </a:solidFill>
                <a:latin typeface="Book Antiqua" panose="02040602050305030304" pitchFamily="18" charset="0"/>
              </a:defRPr>
            </a:lvl1pPr>
          </a:lstStyle>
          <a:p>
            <a:fld id="{1C8FA38B-43AE-4C7F-AC62-93C06D579860}" type="slidenum">
              <a:rPr lang="ko-KR" altLang="en-US" smtClean="0"/>
              <a:pPr/>
              <a:t>‹#›</a:t>
            </a:fld>
            <a:endParaRPr lang="ko-KR" altLang="en-US" dirty="0"/>
          </a:p>
        </p:txBody>
      </p:sp>
    </p:spTree>
    <p:extLst>
      <p:ext uri="{BB962C8B-B14F-4D97-AF65-F5344CB8AC3E}">
        <p14:creationId xmlns:p14="http://schemas.microsoft.com/office/powerpoint/2010/main" val="1406736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ko-KR" altLang="en-US"/>
          </a:p>
        </p:txBody>
      </p:sp>
      <p:cxnSp>
        <p:nvCxnSpPr>
          <p:cNvPr id="6" name="Straight Connector 5"/>
          <p:cNvCxnSpPr/>
          <p:nvPr/>
        </p:nvCxnSpPr>
        <p:spPr>
          <a:xfrm>
            <a:off x="0" y="682029"/>
            <a:ext cx="7551506" cy="0"/>
          </a:xfrm>
          <a:prstGeom prst="line">
            <a:avLst/>
          </a:prstGeom>
          <a:ln w="28575">
            <a:solidFill>
              <a:srgbClr val="002994"/>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551506" y="682029"/>
            <a:ext cx="3595955" cy="0"/>
          </a:xfrm>
          <a:prstGeom prst="line">
            <a:avLst/>
          </a:prstGeom>
          <a:ln w="28575">
            <a:solidFill>
              <a:srgbClr val="000000"/>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147461" y="682029"/>
            <a:ext cx="1044539" cy="0"/>
          </a:xfrm>
          <a:prstGeom prst="line">
            <a:avLst/>
          </a:prstGeom>
          <a:ln w="28575">
            <a:solidFill>
              <a:schemeClr val="bg2">
                <a:lumMod val="75000"/>
              </a:schemeClr>
            </a:solidFill>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sp>
        <p:nvSpPr>
          <p:cNvPr id="11" name="Footer Placeholder 4">
            <a:extLst>
              <a:ext uri="{FF2B5EF4-FFF2-40B4-BE49-F238E27FC236}">
                <a16:creationId xmlns:a16="http://schemas.microsoft.com/office/drawing/2014/main" id="{E6D9DB53-D9BF-48CD-8D6E-35C64DEC2E7C}"/>
              </a:ext>
            </a:extLst>
          </p:cNvPr>
          <p:cNvSpPr>
            <a:spLocks noGrp="1"/>
          </p:cNvSpPr>
          <p:nvPr>
            <p:ph type="ftr" sz="quarter" idx="11"/>
          </p:nvPr>
        </p:nvSpPr>
        <p:spPr>
          <a:xfrm>
            <a:off x="1853597" y="6492875"/>
            <a:ext cx="9407260" cy="357745"/>
          </a:xfrm>
        </p:spPr>
        <p:txBody>
          <a:bodyPr/>
          <a:lstStyle/>
          <a:p>
            <a:r>
              <a:rPr lang="ko-KR" altLang="en-US"/>
              <a:t>딥 러닝 기초 과정</a:t>
            </a:r>
            <a:endParaRPr lang="ko-KR" altLang="en-US" dirty="0"/>
          </a:p>
        </p:txBody>
      </p:sp>
      <p:cxnSp>
        <p:nvCxnSpPr>
          <p:cNvPr id="13" name="Straight Connector 12">
            <a:extLst>
              <a:ext uri="{FF2B5EF4-FFF2-40B4-BE49-F238E27FC236}">
                <a16:creationId xmlns:a16="http://schemas.microsoft.com/office/drawing/2014/main" id="{EF466DA7-374E-4BF4-8C7D-C1AE4508AEA7}"/>
              </a:ext>
            </a:extLst>
          </p:cNvPr>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pic>
        <p:nvPicPr>
          <p:cNvPr id="14" name="Picture 6" descr="C:\Users\admin\AppData\Local\Temp\_AZTMP10_\Signature_05.jpg">
            <a:extLst>
              <a:ext uri="{FF2B5EF4-FFF2-40B4-BE49-F238E27FC236}">
                <a16:creationId xmlns:a16="http://schemas.microsoft.com/office/drawing/2014/main" id="{9C1CA852-CF66-4B66-A69C-2464641553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9" b="13518"/>
          <a:stretch/>
        </p:blipFill>
        <p:spPr bwMode="auto">
          <a:xfrm>
            <a:off x="338666" y="6482241"/>
            <a:ext cx="1514931" cy="365125"/>
          </a:xfrm>
          <a:prstGeom prst="rect">
            <a:avLst/>
          </a:prstGeom>
          <a:noFill/>
          <a:extLst>
            <a:ext uri="{909E8E84-426E-40DD-AFC4-6F175D3DCCD1}">
              <a14:hiddenFill xmlns:a14="http://schemas.microsoft.com/office/drawing/2010/main">
                <a:solidFill>
                  <a:srgbClr val="FFFFFF"/>
                </a:solidFill>
              </a14:hiddenFill>
            </a:ext>
          </a:extLst>
        </p:spPr>
      </p:pic>
      <p:sp>
        <p:nvSpPr>
          <p:cNvPr id="15" name="Slide Number Placeholder 5">
            <a:extLst>
              <a:ext uri="{FF2B5EF4-FFF2-40B4-BE49-F238E27FC236}">
                <a16:creationId xmlns:a16="http://schemas.microsoft.com/office/drawing/2014/main" id="{8120F20D-24A5-4DC2-B439-734DAFBD66CF}"/>
              </a:ext>
            </a:extLst>
          </p:cNvPr>
          <p:cNvSpPr>
            <a:spLocks noGrp="1"/>
          </p:cNvSpPr>
          <p:nvPr>
            <p:ph type="sldNum" sz="quarter" idx="4"/>
          </p:nvPr>
        </p:nvSpPr>
        <p:spPr>
          <a:xfrm>
            <a:off x="11260857" y="6492875"/>
            <a:ext cx="592476" cy="357745"/>
          </a:xfrm>
          <a:prstGeom prst="rect">
            <a:avLst/>
          </a:prstGeom>
        </p:spPr>
        <p:txBody>
          <a:bodyPr vert="horz" lIns="91440" tIns="45720" rIns="91440" bIns="45720" rtlCol="0" anchor="ctr"/>
          <a:lstStyle>
            <a:lvl1pPr algn="r">
              <a:defRPr sz="1800" b="1">
                <a:solidFill>
                  <a:schemeClr val="tx1">
                    <a:tint val="75000"/>
                  </a:schemeClr>
                </a:solidFill>
                <a:latin typeface="Book Antiqua" panose="02040602050305030304" pitchFamily="18" charset="0"/>
              </a:defRPr>
            </a:lvl1pPr>
          </a:lstStyle>
          <a:p>
            <a:fld id="{1C8FA38B-43AE-4C7F-AC62-93C06D579860}" type="slidenum">
              <a:rPr lang="ko-KR" altLang="en-US" smtClean="0"/>
              <a:pPr/>
              <a:t>‹#›</a:t>
            </a:fld>
            <a:endParaRPr lang="ko-KR" altLang="en-US" dirty="0"/>
          </a:p>
        </p:txBody>
      </p:sp>
    </p:spTree>
    <p:extLst>
      <p:ext uri="{BB962C8B-B14F-4D97-AF65-F5344CB8AC3E}">
        <p14:creationId xmlns:p14="http://schemas.microsoft.com/office/powerpoint/2010/main" val="27082708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cxnSp>
        <p:nvCxnSpPr>
          <p:cNvPr id="5" name="Straight Connector 4"/>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sp>
        <p:nvSpPr>
          <p:cNvPr id="6" name="Footer Placeholder 4">
            <a:extLst>
              <a:ext uri="{FF2B5EF4-FFF2-40B4-BE49-F238E27FC236}">
                <a16:creationId xmlns:a16="http://schemas.microsoft.com/office/drawing/2014/main" id="{5C42FA56-09DB-4116-B482-71F0FE8E9567}"/>
              </a:ext>
            </a:extLst>
          </p:cNvPr>
          <p:cNvSpPr>
            <a:spLocks noGrp="1"/>
          </p:cNvSpPr>
          <p:nvPr>
            <p:ph type="ftr" sz="quarter" idx="11"/>
          </p:nvPr>
        </p:nvSpPr>
        <p:spPr>
          <a:xfrm>
            <a:off x="1853597" y="6492875"/>
            <a:ext cx="9407260" cy="357745"/>
          </a:xfrm>
        </p:spPr>
        <p:txBody>
          <a:bodyPr/>
          <a:lstStyle/>
          <a:p>
            <a:r>
              <a:rPr lang="ko-KR" altLang="en-US"/>
              <a:t>딥 러닝 기초 과정</a:t>
            </a:r>
            <a:endParaRPr lang="ko-KR" altLang="en-US" dirty="0"/>
          </a:p>
        </p:txBody>
      </p:sp>
      <p:cxnSp>
        <p:nvCxnSpPr>
          <p:cNvPr id="8" name="Straight Connector 7">
            <a:extLst>
              <a:ext uri="{FF2B5EF4-FFF2-40B4-BE49-F238E27FC236}">
                <a16:creationId xmlns:a16="http://schemas.microsoft.com/office/drawing/2014/main" id="{44661D6D-C226-43B2-92A8-39485173A465}"/>
              </a:ext>
            </a:extLst>
          </p:cNvPr>
          <p:cNvCxnSpPr/>
          <p:nvPr/>
        </p:nvCxnSpPr>
        <p:spPr>
          <a:xfrm>
            <a:off x="0" y="6472327"/>
            <a:ext cx="12192000" cy="0"/>
          </a:xfrm>
          <a:prstGeom prst="line">
            <a:avLst/>
          </a:prstGeom>
          <a:ln>
            <a:solidFill>
              <a:schemeClr val="bg2">
                <a:lumMod val="75000"/>
              </a:schemeClr>
            </a:solidFill>
          </a:ln>
          <a:effectLst>
            <a:outerShdw blurRad="12700" dist="12700" dir="16200000" rotWithShape="0">
              <a:schemeClr val="tx1">
                <a:lumMod val="65000"/>
                <a:lumOff val="35000"/>
                <a:alpha val="30000"/>
              </a:schemeClr>
            </a:outerShdw>
          </a:effectLst>
        </p:spPr>
        <p:style>
          <a:lnRef idx="1">
            <a:schemeClr val="accent3"/>
          </a:lnRef>
          <a:fillRef idx="0">
            <a:schemeClr val="accent3"/>
          </a:fillRef>
          <a:effectRef idx="0">
            <a:schemeClr val="accent3"/>
          </a:effectRef>
          <a:fontRef idx="minor">
            <a:schemeClr val="tx1"/>
          </a:fontRef>
        </p:style>
      </p:cxnSp>
      <p:pic>
        <p:nvPicPr>
          <p:cNvPr id="9" name="Picture 6" descr="C:\Users\admin\AppData\Local\Temp\_AZTMP10_\Signature_05.jpg">
            <a:extLst>
              <a:ext uri="{FF2B5EF4-FFF2-40B4-BE49-F238E27FC236}">
                <a16:creationId xmlns:a16="http://schemas.microsoft.com/office/drawing/2014/main" id="{41894ECC-240D-4726-86C8-92E9654885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39" b="13518"/>
          <a:stretch/>
        </p:blipFill>
        <p:spPr bwMode="auto">
          <a:xfrm>
            <a:off x="338666" y="6482241"/>
            <a:ext cx="1514931" cy="365125"/>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5">
            <a:extLst>
              <a:ext uri="{FF2B5EF4-FFF2-40B4-BE49-F238E27FC236}">
                <a16:creationId xmlns:a16="http://schemas.microsoft.com/office/drawing/2014/main" id="{052F6720-71B5-4942-B8F4-C7FF7B734610}"/>
              </a:ext>
            </a:extLst>
          </p:cNvPr>
          <p:cNvSpPr>
            <a:spLocks noGrp="1"/>
          </p:cNvSpPr>
          <p:nvPr>
            <p:ph type="sldNum" sz="quarter" idx="4"/>
          </p:nvPr>
        </p:nvSpPr>
        <p:spPr>
          <a:xfrm>
            <a:off x="11260857" y="6492875"/>
            <a:ext cx="592476" cy="357745"/>
          </a:xfrm>
          <a:prstGeom prst="rect">
            <a:avLst/>
          </a:prstGeom>
        </p:spPr>
        <p:txBody>
          <a:bodyPr vert="horz" lIns="91440" tIns="45720" rIns="91440" bIns="45720" rtlCol="0" anchor="ctr"/>
          <a:lstStyle>
            <a:lvl1pPr algn="r">
              <a:defRPr sz="1800" b="1">
                <a:solidFill>
                  <a:schemeClr val="tx1">
                    <a:tint val="75000"/>
                  </a:schemeClr>
                </a:solidFill>
                <a:latin typeface="Book Antiqua" panose="02040602050305030304" pitchFamily="18" charset="0"/>
              </a:defRPr>
            </a:lvl1pPr>
          </a:lstStyle>
          <a:p>
            <a:fld id="{1C8FA38B-43AE-4C7F-AC62-93C06D579860}" type="slidenum">
              <a:rPr lang="ko-KR" altLang="en-US" smtClean="0"/>
              <a:pPr/>
              <a:t>‹#›</a:t>
            </a:fld>
            <a:endParaRPr lang="ko-KR" altLang="en-US" dirty="0"/>
          </a:p>
        </p:txBody>
      </p:sp>
    </p:spTree>
    <p:extLst>
      <p:ext uri="{BB962C8B-B14F-4D97-AF65-F5344CB8AC3E}">
        <p14:creationId xmlns:p14="http://schemas.microsoft.com/office/powerpoint/2010/main" val="7666930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62270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Shape 14"/>
        <p:cNvGrpSpPr/>
        <p:nvPr/>
      </p:nvGrpSpPr>
      <p:grpSpPr>
        <a:xfrm>
          <a:off x="0" y="0"/>
          <a:ext cx="0" cy="0"/>
          <a:chOff x="0" y="0"/>
          <a:chExt cx="0" cy="0"/>
        </a:xfrm>
      </p:grpSpPr>
      <p:sp>
        <p:nvSpPr>
          <p:cNvPr id="15" name="Google Shape;15;p11"/>
          <p:cNvSpPr txBox="1">
            <a:spLocks noGrp="1"/>
          </p:cNvSpPr>
          <p:nvPr>
            <p:ph type="ctrTitle"/>
          </p:nvPr>
        </p:nvSpPr>
        <p:spPr>
          <a:xfrm>
            <a:off x="0" y="558800"/>
            <a:ext cx="12192000" cy="359196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4400"/>
              <a:buFont typeface="Book Antiqua"/>
              <a:buNone/>
              <a:defRPr sz="4400">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6" name="Google Shape;16;p11"/>
          <p:cNvSpPr txBox="1">
            <a:spLocks noGrp="1"/>
          </p:cNvSpPr>
          <p:nvPr>
            <p:ph type="subTitle" idx="1"/>
          </p:nvPr>
        </p:nvSpPr>
        <p:spPr>
          <a:xfrm>
            <a:off x="0" y="4869952"/>
            <a:ext cx="12192000" cy="143838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dk1"/>
              </a:buClr>
              <a:buSzPts val="2000"/>
              <a:buNone/>
              <a:defRPr sz="2000"/>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Tree>
    <p:extLst>
      <p:ext uri="{BB962C8B-B14F-4D97-AF65-F5344CB8AC3E}">
        <p14:creationId xmlns:p14="http://schemas.microsoft.com/office/powerpoint/2010/main" val="2317318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제목 및 내용" type="obj" preserve="1">
  <p:cSld name="제목 및 내용">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38666" y="10634"/>
            <a:ext cx="11514667" cy="6877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9" name="Google Shape;19;p12"/>
          <p:cNvSpPr txBox="1">
            <a:spLocks noGrp="1"/>
          </p:cNvSpPr>
          <p:nvPr>
            <p:ph type="body" idx="1"/>
          </p:nvPr>
        </p:nvSpPr>
        <p:spPr>
          <a:xfrm>
            <a:off x="338667" y="883578"/>
            <a:ext cx="11514666" cy="542409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0" name="Google Shape;20;p12"/>
          <p:cNvSpPr txBox="1">
            <a:spLocks noGrp="1"/>
          </p:cNvSpPr>
          <p:nvPr>
            <p:ph type="ftr" idx="11"/>
          </p:nvPr>
        </p:nvSpPr>
        <p:spPr>
          <a:xfrm>
            <a:off x="1853597" y="6492875"/>
            <a:ext cx="9407260" cy="35774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7F7F7F"/>
              </a:buClr>
              <a:buSzPts val="1800"/>
              <a:buChar cha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cxnSp>
        <p:nvCxnSpPr>
          <p:cNvPr id="21" name="Google Shape;21;p12"/>
          <p:cNvCxnSpPr/>
          <p:nvPr/>
        </p:nvCxnSpPr>
        <p:spPr>
          <a:xfrm>
            <a:off x="0" y="682029"/>
            <a:ext cx="7551506" cy="0"/>
          </a:xfrm>
          <a:prstGeom prst="straightConnector1">
            <a:avLst/>
          </a:prstGeom>
          <a:noFill/>
          <a:ln w="28575" cap="flat" cmpd="sng">
            <a:solidFill>
              <a:srgbClr val="002994"/>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22" name="Google Shape;22;p12"/>
          <p:cNvCxnSpPr/>
          <p:nvPr/>
        </p:nvCxnSpPr>
        <p:spPr>
          <a:xfrm>
            <a:off x="7551506" y="682029"/>
            <a:ext cx="3595955" cy="0"/>
          </a:xfrm>
          <a:prstGeom prst="straightConnector1">
            <a:avLst/>
          </a:prstGeom>
          <a:noFill/>
          <a:ln w="28575" cap="flat" cmpd="sng">
            <a:solidFill>
              <a:srgbClr val="000000"/>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23" name="Google Shape;23;p12"/>
          <p:cNvCxnSpPr/>
          <p:nvPr/>
        </p:nvCxnSpPr>
        <p:spPr>
          <a:xfrm>
            <a:off x="11147461" y="682029"/>
            <a:ext cx="1044539" cy="0"/>
          </a:xfrm>
          <a:prstGeom prst="straightConnector1">
            <a:avLst/>
          </a:prstGeom>
          <a:noFill/>
          <a:ln w="28575" cap="flat" cmpd="sng">
            <a:solidFill>
              <a:srgbClr val="AEABAB"/>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24" name="Google Shape;24;p12"/>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pic>
        <p:nvPicPr>
          <p:cNvPr id="25" name="Google Shape;25;p12" descr="C:\Users\admin\AppData\Local\Temp\_AZTMP10_\Signature_05.jpg"/>
          <p:cNvPicPr preferRelativeResize="0"/>
          <p:nvPr/>
        </p:nvPicPr>
        <p:blipFill rotWithShape="1">
          <a:blip r:embed="rId2">
            <a:alphaModFix/>
          </a:blip>
          <a:srcRect t="11639" b="13517"/>
          <a:stretch/>
        </p:blipFill>
        <p:spPr>
          <a:xfrm>
            <a:off x="338666" y="6482241"/>
            <a:ext cx="1514931" cy="365125"/>
          </a:xfrm>
          <a:prstGeom prst="rect">
            <a:avLst/>
          </a:prstGeom>
          <a:noFill/>
          <a:ln>
            <a:noFill/>
          </a:ln>
        </p:spPr>
      </p:pic>
      <p:sp>
        <p:nvSpPr>
          <p:cNvPr id="26" name="Google Shape;26;p12"/>
          <p:cNvSpPr txBox="1">
            <a:spLocks noGrp="1"/>
          </p:cNvSpPr>
          <p:nvPr>
            <p:ph type="sldNum" idx="12"/>
          </p:nvPr>
        </p:nvSpPr>
        <p:spPr>
          <a:xfrm>
            <a:off x="11260857" y="6492875"/>
            <a:ext cx="592476" cy="35774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9pPr>
          </a:lstStyle>
          <a:p>
            <a:fld id="{3692ECA5-C886-47BE-9A62-4B474593A338}" type="slidenum">
              <a:rPr lang="en-US" smtClean="0"/>
              <a:t>‹#›</a:t>
            </a:fld>
            <a:endParaRPr lang="en-US"/>
          </a:p>
        </p:txBody>
      </p:sp>
    </p:spTree>
    <p:extLst>
      <p:ext uri="{BB962C8B-B14F-4D97-AF65-F5344CB8AC3E}">
        <p14:creationId xmlns:p14="http://schemas.microsoft.com/office/powerpoint/2010/main" val="40053596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ly Content" preserve="1">
  <p:cSld name="Only Content">
    <p:spTree>
      <p:nvGrpSpPr>
        <p:cNvPr id="1" name="Shape 27"/>
        <p:cNvGrpSpPr/>
        <p:nvPr/>
      </p:nvGrpSpPr>
      <p:grpSpPr>
        <a:xfrm>
          <a:off x="0" y="0"/>
          <a:ext cx="0" cy="0"/>
          <a:chOff x="0" y="0"/>
          <a:chExt cx="0" cy="0"/>
        </a:xfrm>
      </p:grpSpPr>
      <p:sp>
        <p:nvSpPr>
          <p:cNvPr id="28" name="Google Shape;28;p13"/>
          <p:cNvSpPr txBox="1">
            <a:spLocks noGrp="1"/>
          </p:cNvSpPr>
          <p:nvPr>
            <p:ph type="body" idx="1"/>
          </p:nvPr>
        </p:nvSpPr>
        <p:spPr>
          <a:xfrm>
            <a:off x="338667" y="548640"/>
            <a:ext cx="11514600" cy="5759100"/>
          </a:xfrm>
          <a:prstGeom prst="rect">
            <a:avLst/>
          </a:prstGeom>
          <a:noFill/>
          <a:ln>
            <a:noFill/>
          </a:ln>
        </p:spPr>
        <p:txBody>
          <a:bodyPr spcFirstLastPara="1" wrap="square" lIns="91425" tIns="45700" rIns="91425" bIns="45700" anchor="ctr" anchorCtr="0">
            <a:normAutofit/>
          </a:bodyPr>
          <a:lstStyle>
            <a:lvl1pPr marL="457200" lvl="0" indent="-342900" algn="ctr">
              <a:spcBef>
                <a:spcPts val="0"/>
              </a:spcBef>
              <a:spcAft>
                <a:spcPts val="0"/>
              </a:spcAft>
              <a:buClr>
                <a:schemeClr val="dk1"/>
              </a:buClr>
              <a:buSzPts val="1800"/>
              <a:buChar char="▪"/>
              <a:defRPr sz="16600" b="1">
                <a:solidFill>
                  <a:schemeClr val="lt1"/>
                </a:solidFill>
                <a:latin typeface="Arial"/>
                <a:ea typeface="Arial"/>
                <a:cs typeface="Arial"/>
                <a:sym typeface="Aria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cxnSp>
        <p:nvCxnSpPr>
          <p:cNvPr id="29" name="Google Shape;29;p13"/>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sp>
        <p:nvSpPr>
          <p:cNvPr id="30" name="Google Shape;30;p13"/>
          <p:cNvSpPr txBox="1">
            <a:spLocks noGrp="1"/>
          </p:cNvSpPr>
          <p:nvPr>
            <p:ph type="ftr" idx="11"/>
          </p:nvPr>
        </p:nvSpPr>
        <p:spPr>
          <a:xfrm>
            <a:off x="1853597" y="6492875"/>
            <a:ext cx="9407260" cy="35774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7F7F7F"/>
              </a:buClr>
              <a:buSzPts val="1800"/>
              <a:buChar cha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cxnSp>
        <p:nvCxnSpPr>
          <p:cNvPr id="31" name="Google Shape;31;p13"/>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pic>
        <p:nvPicPr>
          <p:cNvPr id="32" name="Google Shape;32;p13" descr="C:\Users\admin\AppData\Local\Temp\_AZTMP10_\Signature_05.jpg"/>
          <p:cNvPicPr preferRelativeResize="0"/>
          <p:nvPr/>
        </p:nvPicPr>
        <p:blipFill rotWithShape="1">
          <a:blip r:embed="rId2">
            <a:alphaModFix/>
          </a:blip>
          <a:srcRect t="11639" b="13517"/>
          <a:stretch/>
        </p:blipFill>
        <p:spPr>
          <a:xfrm>
            <a:off x="338666" y="6482241"/>
            <a:ext cx="1514931" cy="365125"/>
          </a:xfrm>
          <a:prstGeom prst="rect">
            <a:avLst/>
          </a:prstGeom>
          <a:noFill/>
          <a:ln>
            <a:noFill/>
          </a:ln>
        </p:spPr>
      </p:pic>
      <p:sp>
        <p:nvSpPr>
          <p:cNvPr id="33" name="Google Shape;33;p13"/>
          <p:cNvSpPr txBox="1">
            <a:spLocks noGrp="1"/>
          </p:cNvSpPr>
          <p:nvPr>
            <p:ph type="sldNum" idx="12"/>
          </p:nvPr>
        </p:nvSpPr>
        <p:spPr>
          <a:xfrm>
            <a:off x="11260857" y="6492875"/>
            <a:ext cx="592476" cy="35774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9pPr>
          </a:lstStyle>
          <a:p>
            <a:fld id="{3692ECA5-C886-47BE-9A62-4B474593A338}" type="slidenum">
              <a:rPr lang="en-US" smtClean="0"/>
              <a:t>‹#›</a:t>
            </a:fld>
            <a:endParaRPr lang="en-US"/>
          </a:p>
        </p:txBody>
      </p:sp>
    </p:spTree>
    <p:extLst>
      <p:ext uri="{BB962C8B-B14F-4D97-AF65-F5344CB8AC3E}">
        <p14:creationId xmlns:p14="http://schemas.microsoft.com/office/powerpoint/2010/main" val="30170309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구역 머리글" type="secHead" preserve="1">
  <p:cSld name="구역 머리글">
    <p:spTree>
      <p:nvGrpSpPr>
        <p:cNvPr id="1" name="Shape 34"/>
        <p:cNvGrpSpPr/>
        <p:nvPr/>
      </p:nvGrpSpPr>
      <p:grpSpPr>
        <a:xfrm>
          <a:off x="0" y="0"/>
          <a:ext cx="0" cy="0"/>
          <a:chOff x="0" y="0"/>
          <a:chExt cx="0" cy="0"/>
        </a:xfrm>
      </p:grpSpPr>
      <p:sp>
        <p:nvSpPr>
          <p:cNvPr id="35" name="Google Shape;35;p14"/>
          <p:cNvSpPr txBox="1">
            <a:spLocks noGrp="1"/>
          </p:cNvSpPr>
          <p:nvPr>
            <p:ph type="title"/>
          </p:nvPr>
        </p:nvSpPr>
        <p:spPr>
          <a:xfrm>
            <a:off x="0" y="1277938"/>
            <a:ext cx="12179300" cy="2908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400"/>
              <a:buFont typeface="Book Antiqua"/>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6" name="Google Shape;36;p14"/>
          <p:cNvSpPr txBox="1">
            <a:spLocks noGrp="1"/>
          </p:cNvSpPr>
          <p:nvPr>
            <p:ph type="body" idx="1"/>
          </p:nvPr>
        </p:nvSpPr>
        <p:spPr>
          <a:xfrm>
            <a:off x="0" y="4589463"/>
            <a:ext cx="121793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rgbClr val="888888"/>
              </a:buClr>
              <a:buSzPts val="2400"/>
              <a:buNone/>
              <a:defRPr sz="2400">
                <a:solidFill>
                  <a:srgbClr val="888888"/>
                </a:solidFill>
              </a:defRPr>
            </a:lvl1pPr>
            <a:lvl2pPr marL="914400" lvl="1" indent="-228600" algn="l">
              <a:lnSpc>
                <a:spcPct val="100000"/>
              </a:lnSpc>
              <a:spcBef>
                <a:spcPts val="500"/>
              </a:spcBef>
              <a:spcAft>
                <a:spcPts val="0"/>
              </a:spcAft>
              <a:buClr>
                <a:srgbClr val="888888"/>
              </a:buClr>
              <a:buSzPts val="2000"/>
              <a:buNone/>
              <a:defRPr sz="2000">
                <a:solidFill>
                  <a:srgbClr val="888888"/>
                </a:solidFill>
              </a:defRPr>
            </a:lvl2pPr>
            <a:lvl3pPr marL="1371600" lvl="2" indent="-228600" algn="l">
              <a:lnSpc>
                <a:spcPct val="100000"/>
              </a:lnSpc>
              <a:spcBef>
                <a:spcPts val="500"/>
              </a:spcBef>
              <a:spcAft>
                <a:spcPts val="0"/>
              </a:spcAft>
              <a:buClr>
                <a:srgbClr val="888888"/>
              </a:buClr>
              <a:buSzPts val="1800"/>
              <a:buNone/>
              <a:defRPr sz="1800">
                <a:solidFill>
                  <a:srgbClr val="888888"/>
                </a:solidFill>
              </a:defRPr>
            </a:lvl3pPr>
            <a:lvl4pPr marL="1828800" lvl="3" indent="-228600" algn="l">
              <a:lnSpc>
                <a:spcPct val="100000"/>
              </a:lnSpc>
              <a:spcBef>
                <a:spcPts val="500"/>
              </a:spcBef>
              <a:spcAft>
                <a:spcPts val="0"/>
              </a:spcAft>
              <a:buClr>
                <a:srgbClr val="888888"/>
              </a:buClr>
              <a:buSzPts val="1600"/>
              <a:buNone/>
              <a:defRPr sz="1600">
                <a:solidFill>
                  <a:srgbClr val="888888"/>
                </a:solidFill>
              </a:defRPr>
            </a:lvl4pPr>
            <a:lvl5pPr marL="2286000" lvl="4" indent="-228600" algn="l">
              <a:lnSpc>
                <a:spcPct val="10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Tree>
    <p:extLst>
      <p:ext uri="{BB962C8B-B14F-4D97-AF65-F5344CB8AC3E}">
        <p14:creationId xmlns:p14="http://schemas.microsoft.com/office/powerpoint/2010/main" val="308781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콘텐츠 2개" type="twoObj" preserve="1">
  <p:cSld name="콘텐츠 2개">
    <p:spTree>
      <p:nvGrpSpPr>
        <p:cNvPr id="1" name="Shape 37"/>
        <p:cNvGrpSpPr/>
        <p:nvPr/>
      </p:nvGrpSpPr>
      <p:grpSpPr>
        <a:xfrm>
          <a:off x="0" y="0"/>
          <a:ext cx="0" cy="0"/>
          <a:chOff x="0" y="0"/>
          <a:chExt cx="0" cy="0"/>
        </a:xfrm>
      </p:grpSpPr>
      <p:sp>
        <p:nvSpPr>
          <p:cNvPr id="38" name="Google Shape;38;p15"/>
          <p:cNvSpPr txBox="1">
            <a:spLocks noGrp="1"/>
          </p:cNvSpPr>
          <p:nvPr>
            <p:ph type="title"/>
          </p:nvPr>
        </p:nvSpPr>
        <p:spPr>
          <a:xfrm>
            <a:off x="338666" y="10634"/>
            <a:ext cx="11514667" cy="6877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9" name="Google Shape;39;p15"/>
          <p:cNvSpPr txBox="1">
            <a:spLocks noGrp="1"/>
          </p:cNvSpPr>
          <p:nvPr>
            <p:ph type="body" idx="1"/>
          </p:nvPr>
        </p:nvSpPr>
        <p:spPr>
          <a:xfrm>
            <a:off x="338666" y="883579"/>
            <a:ext cx="5681134" cy="543013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0" name="Google Shape;40;p15"/>
          <p:cNvSpPr txBox="1">
            <a:spLocks noGrp="1"/>
          </p:cNvSpPr>
          <p:nvPr>
            <p:ph type="body" idx="2"/>
          </p:nvPr>
        </p:nvSpPr>
        <p:spPr>
          <a:xfrm>
            <a:off x="6172200" y="883579"/>
            <a:ext cx="5681133" cy="543013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cxnSp>
        <p:nvCxnSpPr>
          <p:cNvPr id="41" name="Google Shape;41;p15"/>
          <p:cNvCxnSpPr/>
          <p:nvPr/>
        </p:nvCxnSpPr>
        <p:spPr>
          <a:xfrm>
            <a:off x="0" y="682029"/>
            <a:ext cx="7551506" cy="0"/>
          </a:xfrm>
          <a:prstGeom prst="straightConnector1">
            <a:avLst/>
          </a:prstGeom>
          <a:noFill/>
          <a:ln w="28575" cap="flat" cmpd="sng">
            <a:solidFill>
              <a:srgbClr val="002994"/>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42" name="Google Shape;42;p15"/>
          <p:cNvCxnSpPr/>
          <p:nvPr/>
        </p:nvCxnSpPr>
        <p:spPr>
          <a:xfrm>
            <a:off x="7551506" y="682029"/>
            <a:ext cx="3595955" cy="0"/>
          </a:xfrm>
          <a:prstGeom prst="straightConnector1">
            <a:avLst/>
          </a:prstGeom>
          <a:noFill/>
          <a:ln w="28575" cap="flat" cmpd="sng">
            <a:solidFill>
              <a:srgbClr val="000000"/>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43" name="Google Shape;43;p15"/>
          <p:cNvCxnSpPr/>
          <p:nvPr/>
        </p:nvCxnSpPr>
        <p:spPr>
          <a:xfrm>
            <a:off x="11147461" y="682029"/>
            <a:ext cx="1044539" cy="0"/>
          </a:xfrm>
          <a:prstGeom prst="straightConnector1">
            <a:avLst/>
          </a:prstGeom>
          <a:noFill/>
          <a:ln w="28575" cap="flat" cmpd="sng">
            <a:solidFill>
              <a:srgbClr val="AEABAB"/>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44" name="Google Shape;44;p15"/>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sp>
        <p:nvSpPr>
          <p:cNvPr id="45" name="Google Shape;45;p15"/>
          <p:cNvSpPr txBox="1">
            <a:spLocks noGrp="1"/>
          </p:cNvSpPr>
          <p:nvPr>
            <p:ph type="ftr" idx="11"/>
          </p:nvPr>
        </p:nvSpPr>
        <p:spPr>
          <a:xfrm>
            <a:off x="1853597" y="6492875"/>
            <a:ext cx="9407260" cy="35774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7F7F7F"/>
              </a:buClr>
              <a:buSzPts val="1800"/>
              <a:buChar cha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cxnSp>
        <p:nvCxnSpPr>
          <p:cNvPr id="46" name="Google Shape;46;p15"/>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pic>
        <p:nvPicPr>
          <p:cNvPr id="47" name="Google Shape;47;p15" descr="C:\Users\admin\AppData\Local\Temp\_AZTMP10_\Signature_05.jpg"/>
          <p:cNvPicPr preferRelativeResize="0"/>
          <p:nvPr/>
        </p:nvPicPr>
        <p:blipFill rotWithShape="1">
          <a:blip r:embed="rId2">
            <a:alphaModFix/>
          </a:blip>
          <a:srcRect t="11639" b="13517"/>
          <a:stretch/>
        </p:blipFill>
        <p:spPr>
          <a:xfrm>
            <a:off x="338666" y="6482241"/>
            <a:ext cx="1514931" cy="365125"/>
          </a:xfrm>
          <a:prstGeom prst="rect">
            <a:avLst/>
          </a:prstGeom>
          <a:noFill/>
          <a:ln>
            <a:noFill/>
          </a:ln>
        </p:spPr>
      </p:pic>
      <p:sp>
        <p:nvSpPr>
          <p:cNvPr id="48" name="Google Shape;48;p15"/>
          <p:cNvSpPr txBox="1">
            <a:spLocks noGrp="1"/>
          </p:cNvSpPr>
          <p:nvPr>
            <p:ph type="sldNum" idx="12"/>
          </p:nvPr>
        </p:nvSpPr>
        <p:spPr>
          <a:xfrm>
            <a:off x="11260857" y="6492875"/>
            <a:ext cx="592476" cy="35774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9pPr>
          </a:lstStyle>
          <a:p>
            <a:fld id="{3692ECA5-C886-47BE-9A62-4B474593A338}" type="slidenum">
              <a:rPr lang="en-US" smtClean="0"/>
              <a:t>‹#›</a:t>
            </a:fld>
            <a:endParaRPr lang="en-US"/>
          </a:p>
        </p:txBody>
      </p:sp>
    </p:spTree>
    <p:extLst>
      <p:ext uri="{BB962C8B-B14F-4D97-AF65-F5344CB8AC3E}">
        <p14:creationId xmlns:p14="http://schemas.microsoft.com/office/powerpoint/2010/main" val="31747528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제목만" type="titleOnly" preserve="1">
  <p:cSld name="제목만">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338666" y="10634"/>
            <a:ext cx="11514667" cy="6877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cxnSp>
        <p:nvCxnSpPr>
          <p:cNvPr id="51" name="Google Shape;51;p16"/>
          <p:cNvCxnSpPr/>
          <p:nvPr/>
        </p:nvCxnSpPr>
        <p:spPr>
          <a:xfrm>
            <a:off x="0" y="682029"/>
            <a:ext cx="7551506" cy="0"/>
          </a:xfrm>
          <a:prstGeom prst="straightConnector1">
            <a:avLst/>
          </a:prstGeom>
          <a:noFill/>
          <a:ln w="28575" cap="flat" cmpd="sng">
            <a:solidFill>
              <a:srgbClr val="002994"/>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52" name="Google Shape;52;p16"/>
          <p:cNvCxnSpPr/>
          <p:nvPr/>
        </p:nvCxnSpPr>
        <p:spPr>
          <a:xfrm>
            <a:off x="7551506" y="682029"/>
            <a:ext cx="3595955" cy="0"/>
          </a:xfrm>
          <a:prstGeom prst="straightConnector1">
            <a:avLst/>
          </a:prstGeom>
          <a:noFill/>
          <a:ln w="28575" cap="flat" cmpd="sng">
            <a:solidFill>
              <a:srgbClr val="000000"/>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53" name="Google Shape;53;p16"/>
          <p:cNvCxnSpPr/>
          <p:nvPr/>
        </p:nvCxnSpPr>
        <p:spPr>
          <a:xfrm>
            <a:off x="11147461" y="682029"/>
            <a:ext cx="1044539" cy="0"/>
          </a:xfrm>
          <a:prstGeom prst="straightConnector1">
            <a:avLst/>
          </a:prstGeom>
          <a:noFill/>
          <a:ln w="28575" cap="flat" cmpd="sng">
            <a:solidFill>
              <a:srgbClr val="AEABAB"/>
            </a:solidFill>
            <a:prstDash val="solid"/>
            <a:miter lim="800000"/>
            <a:headEnd type="none" w="sm" len="sm"/>
            <a:tailEnd type="none" w="sm" len="sm"/>
          </a:ln>
          <a:effectLst>
            <a:outerShdw blurRad="50800" dist="38100" dir="2700000" algn="tl" rotWithShape="0">
              <a:srgbClr val="000000">
                <a:alpha val="20000"/>
              </a:srgbClr>
            </a:outerShdw>
          </a:effectLst>
        </p:spPr>
      </p:cxnSp>
      <p:cxnSp>
        <p:nvCxnSpPr>
          <p:cNvPr id="54" name="Google Shape;54;p16"/>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sp>
        <p:nvSpPr>
          <p:cNvPr id="55" name="Google Shape;55;p16"/>
          <p:cNvSpPr txBox="1">
            <a:spLocks noGrp="1"/>
          </p:cNvSpPr>
          <p:nvPr>
            <p:ph type="ftr" idx="11"/>
          </p:nvPr>
        </p:nvSpPr>
        <p:spPr>
          <a:xfrm>
            <a:off x="1853597" y="6492875"/>
            <a:ext cx="9407260" cy="35774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7F7F7F"/>
              </a:buClr>
              <a:buSzPts val="1800"/>
              <a:buChar cha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cxnSp>
        <p:nvCxnSpPr>
          <p:cNvPr id="56" name="Google Shape;56;p16"/>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pic>
        <p:nvPicPr>
          <p:cNvPr id="57" name="Google Shape;57;p16" descr="C:\Users\admin\AppData\Local\Temp\_AZTMP10_\Signature_05.jpg"/>
          <p:cNvPicPr preferRelativeResize="0"/>
          <p:nvPr/>
        </p:nvPicPr>
        <p:blipFill rotWithShape="1">
          <a:blip r:embed="rId2">
            <a:alphaModFix/>
          </a:blip>
          <a:srcRect t="11639" b="13517"/>
          <a:stretch/>
        </p:blipFill>
        <p:spPr>
          <a:xfrm>
            <a:off x="338666" y="6482241"/>
            <a:ext cx="1514931" cy="365125"/>
          </a:xfrm>
          <a:prstGeom prst="rect">
            <a:avLst/>
          </a:prstGeom>
          <a:noFill/>
          <a:ln>
            <a:noFill/>
          </a:ln>
        </p:spPr>
      </p:pic>
      <p:sp>
        <p:nvSpPr>
          <p:cNvPr id="58" name="Google Shape;58;p16"/>
          <p:cNvSpPr txBox="1">
            <a:spLocks noGrp="1"/>
          </p:cNvSpPr>
          <p:nvPr>
            <p:ph type="sldNum" idx="12"/>
          </p:nvPr>
        </p:nvSpPr>
        <p:spPr>
          <a:xfrm>
            <a:off x="11260857" y="6492875"/>
            <a:ext cx="592476" cy="35774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9pPr>
          </a:lstStyle>
          <a:p>
            <a:fld id="{3692ECA5-C886-47BE-9A62-4B474593A338}" type="slidenum">
              <a:rPr lang="en-US" smtClean="0"/>
              <a:t>‹#›</a:t>
            </a:fld>
            <a:endParaRPr lang="en-US"/>
          </a:p>
        </p:txBody>
      </p:sp>
    </p:spTree>
    <p:extLst>
      <p:ext uri="{BB962C8B-B14F-4D97-AF65-F5344CB8AC3E}">
        <p14:creationId xmlns:p14="http://schemas.microsoft.com/office/powerpoint/2010/main" val="18564195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빈 화면" type="blank" preserve="1">
  <p:cSld name="빈 화면">
    <p:spTree>
      <p:nvGrpSpPr>
        <p:cNvPr id="1" name="Shape 59"/>
        <p:cNvGrpSpPr/>
        <p:nvPr/>
      </p:nvGrpSpPr>
      <p:grpSpPr>
        <a:xfrm>
          <a:off x="0" y="0"/>
          <a:ext cx="0" cy="0"/>
          <a:chOff x="0" y="0"/>
          <a:chExt cx="0" cy="0"/>
        </a:xfrm>
      </p:grpSpPr>
      <p:cxnSp>
        <p:nvCxnSpPr>
          <p:cNvPr id="60" name="Google Shape;60;p17"/>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sp>
        <p:nvSpPr>
          <p:cNvPr id="61" name="Google Shape;61;p17"/>
          <p:cNvSpPr txBox="1">
            <a:spLocks noGrp="1"/>
          </p:cNvSpPr>
          <p:nvPr>
            <p:ph type="ftr" idx="11"/>
          </p:nvPr>
        </p:nvSpPr>
        <p:spPr>
          <a:xfrm>
            <a:off x="1853597" y="6492875"/>
            <a:ext cx="9407260" cy="35774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7F7F7F"/>
              </a:buClr>
              <a:buSzPts val="1800"/>
              <a:buChar cha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cxnSp>
        <p:nvCxnSpPr>
          <p:cNvPr id="62" name="Google Shape;62;p17"/>
          <p:cNvCxnSpPr/>
          <p:nvPr/>
        </p:nvCxnSpPr>
        <p:spPr>
          <a:xfrm>
            <a:off x="0" y="6472327"/>
            <a:ext cx="12192000" cy="0"/>
          </a:xfrm>
          <a:prstGeom prst="straightConnector1">
            <a:avLst/>
          </a:prstGeom>
          <a:noFill/>
          <a:ln w="9525" cap="flat" cmpd="sng">
            <a:solidFill>
              <a:srgbClr val="AEABAB"/>
            </a:solidFill>
            <a:prstDash val="solid"/>
            <a:miter lim="800000"/>
            <a:headEnd type="none" w="sm" len="sm"/>
            <a:tailEnd type="none" w="sm" len="sm"/>
          </a:ln>
          <a:effectLst>
            <a:outerShdw blurRad="12700" dist="12700" dir="16200000" rotWithShape="0">
              <a:srgbClr val="595959">
                <a:alpha val="29411"/>
              </a:srgbClr>
            </a:outerShdw>
          </a:effectLst>
        </p:spPr>
      </p:cxnSp>
      <p:pic>
        <p:nvPicPr>
          <p:cNvPr id="63" name="Google Shape;63;p17" descr="C:\Users\admin\AppData\Local\Temp\_AZTMP10_\Signature_05.jpg"/>
          <p:cNvPicPr preferRelativeResize="0"/>
          <p:nvPr/>
        </p:nvPicPr>
        <p:blipFill rotWithShape="1">
          <a:blip r:embed="rId2">
            <a:alphaModFix/>
          </a:blip>
          <a:srcRect t="11639" b="13517"/>
          <a:stretch/>
        </p:blipFill>
        <p:spPr>
          <a:xfrm>
            <a:off x="338666" y="6482241"/>
            <a:ext cx="1514931" cy="365125"/>
          </a:xfrm>
          <a:prstGeom prst="rect">
            <a:avLst/>
          </a:prstGeom>
          <a:noFill/>
          <a:ln>
            <a:noFill/>
          </a:ln>
        </p:spPr>
      </p:pic>
      <p:sp>
        <p:nvSpPr>
          <p:cNvPr id="64" name="Google Shape;64;p17"/>
          <p:cNvSpPr txBox="1">
            <a:spLocks noGrp="1"/>
          </p:cNvSpPr>
          <p:nvPr>
            <p:ph type="sldNum" idx="12"/>
          </p:nvPr>
        </p:nvSpPr>
        <p:spPr>
          <a:xfrm>
            <a:off x="11260857" y="6492875"/>
            <a:ext cx="592476" cy="35774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9pPr>
          </a:lstStyle>
          <a:p>
            <a:fld id="{3692ECA5-C886-47BE-9A62-4B474593A338}" type="slidenum">
              <a:rPr lang="en-US" smtClean="0"/>
              <a:t>‹#›</a:t>
            </a:fld>
            <a:endParaRPr lang="en-US"/>
          </a:p>
        </p:txBody>
      </p:sp>
    </p:spTree>
    <p:extLst>
      <p:ext uri="{BB962C8B-B14F-4D97-AF65-F5344CB8AC3E}">
        <p14:creationId xmlns:p14="http://schemas.microsoft.com/office/powerpoint/2010/main" val="26860625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Empty" preserve="1">
  <p:cSld name="Empty">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2950261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01401-9A76-5A35-4C72-26BD86B975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10335A-EB84-947A-CCAB-5C3FB677E0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F783E-393F-5248-E338-30A373C51E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21CF01-A0E6-4A7F-BE5B-3DC7CD927776}" type="datetimeFigureOut">
              <a:rPr lang="en-US" smtClean="0"/>
              <a:t>1/30/2026</a:t>
            </a:fld>
            <a:endParaRPr lang="en-US"/>
          </a:p>
        </p:txBody>
      </p:sp>
      <p:sp>
        <p:nvSpPr>
          <p:cNvPr id="5" name="Footer Placeholder 4">
            <a:extLst>
              <a:ext uri="{FF2B5EF4-FFF2-40B4-BE49-F238E27FC236}">
                <a16:creationId xmlns:a16="http://schemas.microsoft.com/office/drawing/2014/main" id="{4B78590F-2628-4319-3807-0066923BA8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F10C3B-E444-5EC9-8D08-5FF1D25EA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B3660E-7EFD-4385-8015-8E89A972BEB3}" type="slidenum">
              <a:rPr lang="en-US" smtClean="0"/>
              <a:t>‹#›</a:t>
            </a:fld>
            <a:endParaRPr lang="en-US"/>
          </a:p>
        </p:txBody>
      </p:sp>
    </p:spTree>
    <p:extLst>
      <p:ext uri="{BB962C8B-B14F-4D97-AF65-F5344CB8AC3E}">
        <p14:creationId xmlns:p14="http://schemas.microsoft.com/office/powerpoint/2010/main" val="16297767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8666" y="10634"/>
            <a:ext cx="11514667" cy="687738"/>
          </a:xfrm>
          <a:prstGeom prst="rect">
            <a:avLst/>
          </a:prstGeom>
        </p:spPr>
        <p:txBody>
          <a:bodyPr vert="horz" lIns="91440" tIns="45720" rIns="91440" bIns="45720" rtlCol="0" anchor="ctr">
            <a:normAutofit/>
          </a:bodyPr>
          <a:lstStyle/>
          <a:p>
            <a:r>
              <a:rPr lang="ko-KR" altLang="en-US"/>
              <a:t>마스터 제목 스타일 편집</a:t>
            </a:r>
            <a:endParaRPr lang="ko-KR" altLang="en-US" dirty="0"/>
          </a:p>
        </p:txBody>
      </p:sp>
      <p:sp>
        <p:nvSpPr>
          <p:cNvPr id="3" name="Text Placeholder 2"/>
          <p:cNvSpPr>
            <a:spLocks noGrp="1"/>
          </p:cNvSpPr>
          <p:nvPr>
            <p:ph type="body" idx="1"/>
          </p:nvPr>
        </p:nvSpPr>
        <p:spPr>
          <a:xfrm>
            <a:off x="338667" y="883578"/>
            <a:ext cx="11514666" cy="5424090"/>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ko-KR" altLang="en-US" dirty="0"/>
          </a:p>
        </p:txBody>
      </p:sp>
      <p:sp>
        <p:nvSpPr>
          <p:cNvPr id="5" name="Footer Placeholder 4"/>
          <p:cNvSpPr>
            <a:spLocks noGrp="1"/>
          </p:cNvSpPr>
          <p:nvPr>
            <p:ph type="ftr" sz="quarter" idx="3"/>
          </p:nvPr>
        </p:nvSpPr>
        <p:spPr>
          <a:xfrm>
            <a:off x="338666" y="6492875"/>
            <a:ext cx="10089223" cy="357745"/>
          </a:xfrm>
          <a:prstGeom prst="rect">
            <a:avLst/>
          </a:prstGeom>
        </p:spPr>
        <p:txBody>
          <a:bodyPr vert="horz" lIns="91440" tIns="45720" rIns="91440" bIns="45720" rtlCol="0" anchor="ctr"/>
          <a:lstStyle>
            <a:lvl1pPr marL="171450" indent="-171450" algn="l">
              <a:buFont typeface="Arial" panose="020B0604020202020204" pitchFamily="34" charset="0"/>
              <a:buChar char="•"/>
              <a:defRPr sz="1200" b="1" baseline="0">
                <a:solidFill>
                  <a:schemeClr val="bg1">
                    <a:lumMod val="50000"/>
                  </a:schemeClr>
                </a:solidFill>
                <a:latin typeface="Book Antiqua" panose="02040602050305030304" pitchFamily="18" charset="0"/>
                <a:ea typeface="맑은 고딕" panose="020B0503020000020004" pitchFamily="50" charset="-127"/>
              </a:defRPr>
            </a:lvl1pPr>
          </a:lstStyle>
          <a:p>
            <a:r>
              <a:rPr lang="ko-KR" altLang="en-US"/>
              <a:t>딥 러닝 기초 과정</a:t>
            </a:r>
            <a:endParaRPr lang="ko-KR" altLang="en-US" dirty="0"/>
          </a:p>
        </p:txBody>
      </p:sp>
      <p:sp>
        <p:nvSpPr>
          <p:cNvPr id="6" name="Slide Number Placeholder 5"/>
          <p:cNvSpPr>
            <a:spLocks noGrp="1"/>
          </p:cNvSpPr>
          <p:nvPr>
            <p:ph type="sldNum" sz="quarter" idx="4"/>
          </p:nvPr>
        </p:nvSpPr>
        <p:spPr>
          <a:xfrm>
            <a:off x="11260857" y="6492875"/>
            <a:ext cx="592476" cy="357745"/>
          </a:xfrm>
          <a:prstGeom prst="rect">
            <a:avLst/>
          </a:prstGeom>
        </p:spPr>
        <p:txBody>
          <a:bodyPr vert="horz" lIns="91440" tIns="45720" rIns="91440" bIns="45720" rtlCol="0" anchor="ctr"/>
          <a:lstStyle>
            <a:lvl1pPr algn="r">
              <a:defRPr sz="1800" b="1">
                <a:solidFill>
                  <a:schemeClr val="tx1">
                    <a:tint val="75000"/>
                  </a:schemeClr>
                </a:solidFill>
                <a:latin typeface="Book Antiqua" panose="02040602050305030304" pitchFamily="18" charset="0"/>
              </a:defRPr>
            </a:lvl1pPr>
          </a:lstStyle>
          <a:p>
            <a:fld id="{1C8FA38B-43AE-4C7F-AC62-93C06D579860}" type="slidenum">
              <a:rPr lang="ko-KR" altLang="en-US" smtClean="0"/>
              <a:pPr/>
              <a:t>‹#›</a:t>
            </a:fld>
            <a:endParaRPr lang="ko-KR" altLang="en-US" dirty="0"/>
          </a:p>
        </p:txBody>
      </p:sp>
    </p:spTree>
    <p:extLst>
      <p:ext uri="{BB962C8B-B14F-4D97-AF65-F5344CB8AC3E}">
        <p14:creationId xmlns:p14="http://schemas.microsoft.com/office/powerpoint/2010/main" val="34808254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hf hdr="0" dt="0"/>
  <p:txStyles>
    <p:titleStyle>
      <a:lvl1pPr algn="l" defTabSz="914400" rtl="0" eaLnBrk="1" latinLnBrk="1" hangingPunct="1">
        <a:lnSpc>
          <a:spcPct val="90000"/>
        </a:lnSpc>
        <a:spcBef>
          <a:spcPct val="0"/>
        </a:spcBef>
        <a:buNone/>
        <a:defRPr sz="3200" b="1" kern="1200" spc="-100" baseline="0">
          <a:solidFill>
            <a:schemeClr val="tx1"/>
          </a:solidFill>
          <a:effectLst/>
          <a:latin typeface="Book Antiqua" panose="02040602050305030304" pitchFamily="18" charset="0"/>
          <a:ea typeface="맑은 고딕" panose="020B0503020000020004" pitchFamily="50" charset="-127"/>
          <a:cs typeface="+mj-cs"/>
        </a:defRPr>
      </a:lvl1pPr>
    </p:titleStyle>
    <p:bodyStyle>
      <a:lvl1pPr marL="228600" indent="-228600" algn="l" defTabSz="914400" rtl="0" eaLnBrk="1" latinLnBrk="1" hangingPunct="1">
        <a:lnSpc>
          <a:spcPct val="100000"/>
        </a:lnSpc>
        <a:spcBef>
          <a:spcPts val="1000"/>
        </a:spcBef>
        <a:buFont typeface="Wingdings" panose="05000000000000000000" pitchFamily="2" charset="2"/>
        <a:buChar char="§"/>
        <a:defRPr sz="2400" kern="1200" spc="-100" baseline="0">
          <a:solidFill>
            <a:schemeClr val="tx1"/>
          </a:solidFill>
          <a:latin typeface="Book Antiqua" panose="02040602050305030304" pitchFamily="18" charset="0"/>
          <a:ea typeface="맑은 고딕" panose="020B0503020000020004" pitchFamily="50" charset="-127"/>
          <a:cs typeface="+mn-cs"/>
        </a:defRPr>
      </a:lvl1pPr>
      <a:lvl2pPr marL="685800" indent="-228600" algn="l" defTabSz="914400" rtl="0" eaLnBrk="1" latinLnBrk="1" hangingPunct="1">
        <a:lnSpc>
          <a:spcPct val="100000"/>
        </a:lnSpc>
        <a:spcBef>
          <a:spcPts val="500"/>
        </a:spcBef>
        <a:buFont typeface="Wingdings" panose="05000000000000000000" pitchFamily="2" charset="2"/>
        <a:buChar char="§"/>
        <a:defRPr sz="2000" kern="1200" spc="-100" baseline="0">
          <a:solidFill>
            <a:schemeClr val="tx1"/>
          </a:solidFill>
          <a:latin typeface="Book Antiqua" panose="02040602050305030304" pitchFamily="18" charset="0"/>
          <a:ea typeface="맑은 고딕" panose="020B0503020000020004" pitchFamily="50" charset="-127"/>
          <a:cs typeface="+mn-cs"/>
        </a:defRPr>
      </a:lvl2pPr>
      <a:lvl3pPr marL="1143000" indent="-228600" algn="l" defTabSz="914400" rtl="0" eaLnBrk="1" latinLnBrk="1" hangingPunct="1">
        <a:lnSpc>
          <a:spcPct val="100000"/>
        </a:lnSpc>
        <a:spcBef>
          <a:spcPts val="500"/>
        </a:spcBef>
        <a:buFont typeface="Wingdings" panose="05000000000000000000" pitchFamily="2" charset="2"/>
        <a:buChar char="§"/>
        <a:defRPr sz="1800" kern="1200" spc="-100" baseline="0">
          <a:solidFill>
            <a:schemeClr val="tx1"/>
          </a:solidFill>
          <a:latin typeface="Book Antiqua" panose="02040602050305030304" pitchFamily="18" charset="0"/>
          <a:ea typeface="맑은 고딕" panose="020B0503020000020004" pitchFamily="50" charset="-127"/>
          <a:cs typeface="+mn-cs"/>
        </a:defRPr>
      </a:lvl3pPr>
      <a:lvl4pPr marL="1600200" indent="-228600" algn="l" defTabSz="914400" rtl="0" eaLnBrk="1" latinLnBrk="1" hangingPunct="1">
        <a:lnSpc>
          <a:spcPct val="100000"/>
        </a:lnSpc>
        <a:spcBef>
          <a:spcPts val="500"/>
        </a:spcBef>
        <a:buFont typeface="Wingdings" panose="05000000000000000000" pitchFamily="2" charset="2"/>
        <a:buChar char="§"/>
        <a:defRPr sz="1600" kern="1200" spc="-100" baseline="0">
          <a:solidFill>
            <a:schemeClr val="tx1"/>
          </a:solidFill>
          <a:latin typeface="Book Antiqua" panose="02040602050305030304" pitchFamily="18" charset="0"/>
          <a:ea typeface="맑은 고딕" panose="020B0503020000020004" pitchFamily="50" charset="-127"/>
          <a:cs typeface="+mn-cs"/>
        </a:defRPr>
      </a:lvl4pPr>
      <a:lvl5pPr marL="2057400" indent="-228600" algn="l" defTabSz="914400" rtl="0" eaLnBrk="1" latinLnBrk="1" hangingPunct="1">
        <a:lnSpc>
          <a:spcPct val="100000"/>
        </a:lnSpc>
        <a:spcBef>
          <a:spcPts val="500"/>
        </a:spcBef>
        <a:buFont typeface="Wingdings" panose="05000000000000000000" pitchFamily="2" charset="2"/>
        <a:buChar char="§"/>
        <a:defRPr sz="1600" kern="1200" spc="-100" baseline="0">
          <a:solidFill>
            <a:schemeClr val="tx1"/>
          </a:solidFill>
          <a:latin typeface="Book Antiqua" panose="02040602050305030304" pitchFamily="18" charset="0"/>
          <a:ea typeface="맑은 고딕" panose="020B0503020000020004"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338666" y="10634"/>
            <a:ext cx="11514667" cy="68773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Book Antiqua"/>
              <a:buNone/>
              <a:defRPr sz="3200" b="1" i="0" u="none" strike="noStrike" cap="none">
                <a:solidFill>
                  <a:schemeClr val="dk1"/>
                </a:solidFill>
                <a:latin typeface="Book Antiqua"/>
                <a:ea typeface="Book Antiqua"/>
                <a:cs typeface="Book Antiqua"/>
                <a:sym typeface="Book Antiqu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338667" y="883578"/>
            <a:ext cx="11514666" cy="542409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Noto Sans Symbols"/>
              <a:buChar char="▪"/>
              <a:defRPr sz="2400" b="0" i="0" u="none" strike="noStrike" cap="none">
                <a:solidFill>
                  <a:schemeClr val="dk1"/>
                </a:solidFill>
                <a:latin typeface="Book Antiqua"/>
                <a:ea typeface="Book Antiqua"/>
                <a:cs typeface="Book Antiqua"/>
                <a:sym typeface="Book Antiqua"/>
              </a:defRPr>
            </a:lvl1pPr>
            <a:lvl2pPr marL="914400" marR="0" lvl="1" indent="-355600" algn="l" rtl="0">
              <a:lnSpc>
                <a:spcPct val="100000"/>
              </a:lnSpc>
              <a:spcBef>
                <a:spcPts val="500"/>
              </a:spcBef>
              <a:spcAft>
                <a:spcPts val="0"/>
              </a:spcAft>
              <a:buClr>
                <a:schemeClr val="dk1"/>
              </a:buClr>
              <a:buSzPts val="2000"/>
              <a:buFont typeface="Noto Sans Symbols"/>
              <a:buChar char="▪"/>
              <a:defRPr sz="2000" b="0" i="0" u="none" strike="noStrike" cap="none">
                <a:solidFill>
                  <a:schemeClr val="dk1"/>
                </a:solidFill>
                <a:latin typeface="Book Antiqua"/>
                <a:ea typeface="Book Antiqua"/>
                <a:cs typeface="Book Antiqua"/>
                <a:sym typeface="Book Antiqua"/>
              </a:defRPr>
            </a:lvl2pPr>
            <a:lvl3pPr marL="1371600" marR="0" lvl="2" indent="-342900"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Book Antiqua"/>
                <a:ea typeface="Book Antiqua"/>
                <a:cs typeface="Book Antiqua"/>
                <a:sym typeface="Book Antiqua"/>
              </a:defRPr>
            </a:lvl3pPr>
            <a:lvl4pPr marL="1828800" marR="0" lvl="3" indent="-330200" algn="l" rtl="0">
              <a:lnSpc>
                <a:spcPct val="100000"/>
              </a:lnSpc>
              <a:spcBef>
                <a:spcPts val="500"/>
              </a:spcBef>
              <a:spcAft>
                <a:spcPts val="0"/>
              </a:spcAft>
              <a:buClr>
                <a:schemeClr val="dk1"/>
              </a:buClr>
              <a:buSzPts val="1600"/>
              <a:buFont typeface="Noto Sans Symbols"/>
              <a:buChar char="▪"/>
              <a:defRPr sz="1600" b="0" i="0" u="none" strike="noStrike" cap="none">
                <a:solidFill>
                  <a:schemeClr val="dk1"/>
                </a:solidFill>
                <a:latin typeface="Book Antiqua"/>
                <a:ea typeface="Book Antiqua"/>
                <a:cs typeface="Book Antiqua"/>
                <a:sym typeface="Book Antiqua"/>
              </a:defRPr>
            </a:lvl4pPr>
            <a:lvl5pPr marL="2286000" marR="0" lvl="4" indent="-330200" algn="l" rtl="0">
              <a:lnSpc>
                <a:spcPct val="100000"/>
              </a:lnSpc>
              <a:spcBef>
                <a:spcPts val="500"/>
              </a:spcBef>
              <a:spcAft>
                <a:spcPts val="0"/>
              </a:spcAft>
              <a:buClr>
                <a:schemeClr val="dk1"/>
              </a:buClr>
              <a:buSzPts val="1600"/>
              <a:buFont typeface="Noto Sans Symbols"/>
              <a:buChar char="▪"/>
              <a:defRPr sz="1600" b="0" i="0" u="none" strike="noStrike" cap="none">
                <a:solidFill>
                  <a:schemeClr val="dk1"/>
                </a:solidFill>
                <a:latin typeface="Book Antiqua"/>
                <a:ea typeface="Book Antiqua"/>
                <a:cs typeface="Book Antiqua"/>
                <a:sym typeface="Book Antiqu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12" name="Google Shape;12;p10"/>
          <p:cNvSpPr txBox="1">
            <a:spLocks noGrp="1"/>
          </p:cNvSpPr>
          <p:nvPr>
            <p:ph type="ftr" idx="11"/>
          </p:nvPr>
        </p:nvSpPr>
        <p:spPr>
          <a:xfrm>
            <a:off x="338666" y="6492875"/>
            <a:ext cx="10089223" cy="35774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7F7F7F"/>
              </a:buClr>
              <a:buSzPts val="1200"/>
              <a:buFont typeface="Arial"/>
              <a:buChar char="•"/>
              <a:defRPr sz="1200" b="1" i="0" u="none" strike="noStrike" cap="none">
                <a:solidFill>
                  <a:srgbClr val="7F7F7F"/>
                </a:solidFill>
                <a:latin typeface="Book Antiqua"/>
                <a:ea typeface="Book Antiqua"/>
                <a:cs typeface="Book Antiqua"/>
                <a:sym typeface="Book Antiqu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algun Gothic"/>
                <a:ea typeface="Malgun Gothic"/>
                <a:cs typeface="Malgun Gothic"/>
                <a:sym typeface="Malgun Gothic"/>
              </a:defRPr>
            </a:lvl9pPr>
          </a:lstStyle>
          <a:p>
            <a:endParaRPr lang="en-US"/>
          </a:p>
        </p:txBody>
      </p:sp>
      <p:sp>
        <p:nvSpPr>
          <p:cNvPr id="13" name="Google Shape;13;p10"/>
          <p:cNvSpPr txBox="1">
            <a:spLocks noGrp="1"/>
          </p:cNvSpPr>
          <p:nvPr>
            <p:ph type="sldNum" idx="12"/>
          </p:nvPr>
        </p:nvSpPr>
        <p:spPr>
          <a:xfrm>
            <a:off x="11260857" y="6492875"/>
            <a:ext cx="592476" cy="35774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rgbClr val="888888"/>
                </a:solidFill>
                <a:latin typeface="Book Antiqua"/>
                <a:ea typeface="Book Antiqua"/>
                <a:cs typeface="Book Antiqua"/>
                <a:sym typeface="Book Antiqua"/>
              </a:defRPr>
            </a:lvl9pPr>
          </a:lstStyle>
          <a:p>
            <a:fld id="{3692ECA5-C886-47BE-9A62-4B474593A338}" type="slidenum">
              <a:rPr lang="en-US" smtClean="0"/>
              <a:t>‹#›</a:t>
            </a:fld>
            <a:endParaRPr lang="en-US"/>
          </a:p>
        </p:txBody>
      </p:sp>
    </p:spTree>
    <p:extLst>
      <p:ext uri="{BB962C8B-B14F-4D97-AF65-F5344CB8AC3E}">
        <p14:creationId xmlns:p14="http://schemas.microsoft.com/office/powerpoint/2010/main" val="4289340108"/>
      </p:ext>
    </p:extLst>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9.gif"/><Relationship Id="rId5" Type="http://schemas.openxmlformats.org/officeDocument/2006/relationships/image" Target="../media/image8.gi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E9E7-623D-A4EA-A0C1-9693B0A1240A}"/>
              </a:ext>
            </a:extLst>
          </p:cNvPr>
          <p:cNvSpPr>
            <a:spLocks noGrp="1"/>
          </p:cNvSpPr>
          <p:nvPr>
            <p:ph type="ctrTitle"/>
          </p:nvPr>
        </p:nvSpPr>
        <p:spPr/>
        <p:txBody>
          <a:bodyPr>
            <a:normAutofit/>
          </a:bodyPr>
          <a:lstStyle/>
          <a:p>
            <a:r>
              <a:rPr lang="en-US" sz="3500" dirty="0"/>
              <a:t>Enhancing Sign Language Recognition: A Computationally </a:t>
            </a:r>
            <a:br>
              <a:rPr lang="en-US" sz="3500" dirty="0"/>
            </a:br>
            <a:r>
              <a:rPr lang="en-US" sz="3500" dirty="0"/>
              <a:t>Efficient and Interpretable Multi-Modal Approach</a:t>
            </a:r>
          </a:p>
        </p:txBody>
      </p:sp>
      <p:sp>
        <p:nvSpPr>
          <p:cNvPr id="3" name="Subtitle 2">
            <a:extLst>
              <a:ext uri="{FF2B5EF4-FFF2-40B4-BE49-F238E27FC236}">
                <a16:creationId xmlns:a16="http://schemas.microsoft.com/office/drawing/2014/main" id="{030F40C5-09B2-4C3C-0B72-34D06F5F7C5D}"/>
              </a:ext>
            </a:extLst>
          </p:cNvPr>
          <p:cNvSpPr>
            <a:spLocks noGrp="1"/>
          </p:cNvSpPr>
          <p:nvPr>
            <p:ph type="subTitle" idx="1"/>
          </p:nvPr>
        </p:nvSpPr>
        <p:spPr>
          <a:xfrm>
            <a:off x="0" y="3530102"/>
            <a:ext cx="12192000" cy="1438382"/>
          </a:xfrm>
        </p:spPr>
        <p:txBody>
          <a:bodyPr/>
          <a:lstStyle/>
          <a:p>
            <a:r>
              <a:rPr lang="en-US" sz="1800" b="1" dirty="0"/>
              <a:t>Authors:</a:t>
            </a:r>
            <a:r>
              <a:rPr lang="en-US" sz="1800" dirty="0"/>
              <a:t> Chingiz Tursunbaev, </a:t>
            </a:r>
            <a:r>
              <a:rPr lang="en-US" sz="1800" dirty="0" err="1"/>
              <a:t>Mukhiddin</a:t>
            </a:r>
            <a:r>
              <a:rPr lang="en-US" sz="1800" dirty="0"/>
              <a:t> </a:t>
            </a:r>
            <a:r>
              <a:rPr lang="en-US" sz="1800" dirty="0" err="1"/>
              <a:t>Toshpulatov</a:t>
            </a:r>
            <a:r>
              <a:rPr lang="en-US" sz="1800" dirty="0"/>
              <a:t>, Nirmal Adhikari, Wookey Lee</a:t>
            </a:r>
          </a:p>
          <a:p>
            <a:r>
              <a:rPr lang="en-US" altLang="ko-KR" i="1" dirty="0">
                <a:latin typeface="Times New Roman" panose="02020603050405020304" pitchFamily="18" charset="0"/>
                <a:cs typeface="Times New Roman" panose="02020603050405020304" pitchFamily="18" charset="0"/>
              </a:rPr>
              <a:t>Voice AI Research Center, </a:t>
            </a:r>
            <a:r>
              <a:rPr lang="en-US" altLang="ko-KR" i="1" dirty="0" err="1">
                <a:latin typeface="Times New Roman" panose="02020603050405020304" pitchFamily="18" charset="0"/>
                <a:cs typeface="Times New Roman" panose="02020603050405020304" pitchFamily="18" charset="0"/>
              </a:rPr>
              <a:t>Inha</a:t>
            </a:r>
            <a:r>
              <a:rPr lang="en-US" altLang="ko-KR" i="1" dirty="0">
                <a:latin typeface="Times New Roman" panose="02020603050405020304" pitchFamily="18" charset="0"/>
                <a:cs typeface="Times New Roman" panose="02020603050405020304" pitchFamily="18" charset="0"/>
              </a:rPr>
              <a:t> University, South Korea</a:t>
            </a:r>
            <a:endParaRPr lang="en-US" i="1" dirty="0">
              <a:latin typeface="Times New Roman" panose="02020603050405020304" pitchFamily="18" charset="0"/>
              <a:cs typeface="Times New Roman" panose="02020603050405020304" pitchFamily="18" charset="0"/>
            </a:endParaRPr>
          </a:p>
        </p:txBody>
      </p:sp>
      <p:pic>
        <p:nvPicPr>
          <p:cNvPr id="4" name="Picture 10" descr="Inha University">
            <a:extLst>
              <a:ext uri="{FF2B5EF4-FFF2-40B4-BE49-F238E27FC236}">
                <a16:creationId xmlns:a16="http://schemas.microsoft.com/office/drawing/2014/main" id="{D6474AD5-123A-BD43-25A2-C92EC5A3FB22}"/>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t="15409" b="15409"/>
          <a:stretch>
            <a:fillRect/>
          </a:stretch>
        </p:blipFill>
        <p:spPr bwMode="auto">
          <a:xfrm>
            <a:off x="746760" y="5974930"/>
            <a:ext cx="2055934" cy="6756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인하대학교 VOICE AI 연구소">
            <a:extLst>
              <a:ext uri="{FF2B5EF4-FFF2-40B4-BE49-F238E27FC236}">
                <a16:creationId xmlns:a16="http://schemas.microsoft.com/office/drawing/2014/main" id="{FA25EA1F-FAC6-3032-7852-FA3241F00BAD}"/>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9487759" y="5977651"/>
            <a:ext cx="1957481" cy="6728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B02DD9-B39F-5B15-3871-AE34DEA00BB2}"/>
              </a:ext>
            </a:extLst>
          </p:cNvPr>
          <p:cNvSpPr txBox="1"/>
          <p:nvPr/>
        </p:nvSpPr>
        <p:spPr>
          <a:xfrm>
            <a:off x="3879881" y="4524599"/>
            <a:ext cx="4579523" cy="307777"/>
          </a:xfrm>
          <a:prstGeom prst="rect">
            <a:avLst/>
          </a:prstGeom>
          <a:noFill/>
        </p:spPr>
        <p:txBody>
          <a:bodyPr wrap="none">
            <a:spAutoFit/>
          </a:bodyPr>
          <a:lstStyle/>
          <a:p>
            <a:pPr algn="l"/>
            <a:r>
              <a:rPr sz="1400" b="1" dirty="0">
                <a:latin typeface="Times New Roman"/>
              </a:rPr>
              <a:t>Presenter: [</a:t>
            </a:r>
            <a:r>
              <a:rPr lang="en-US" sz="1400" b="1" dirty="0">
                <a:latin typeface="Times New Roman"/>
              </a:rPr>
              <a:t>Chingiz Tursunbaev</a:t>
            </a:r>
            <a:r>
              <a:rPr sz="1400" b="1" dirty="0">
                <a:latin typeface="Times New Roman"/>
              </a:rPr>
              <a:t>]</a:t>
            </a:r>
            <a:r>
              <a:rPr lang="en-US" sz="1400" b="1" dirty="0">
                <a:latin typeface="Times New Roman"/>
              </a:rPr>
              <a:t> </a:t>
            </a:r>
            <a:r>
              <a:rPr lang="en-US" sz="1400" dirty="0">
                <a:latin typeface="Times New Roman"/>
              </a:rPr>
              <a:t>{</a:t>
            </a:r>
            <a:r>
              <a:rPr lang="en-US" sz="1400" dirty="0">
                <a:solidFill>
                  <a:schemeClr val="tx2">
                    <a:lumMod val="60000"/>
                    <a:lumOff val="40000"/>
                  </a:schemeClr>
                </a:solidFill>
                <a:latin typeface="Times New Roman"/>
              </a:rPr>
              <a:t>chingiz2503@inha.edu</a:t>
            </a:r>
            <a:r>
              <a:rPr lang="en-US" sz="1400" dirty="0">
                <a:latin typeface="Times New Roman"/>
              </a:rPr>
              <a:t>}</a:t>
            </a:r>
            <a:endParaRPr sz="1400" dirty="0">
              <a:latin typeface="Times New Roman"/>
            </a:endParaRPr>
          </a:p>
        </p:txBody>
      </p:sp>
    </p:spTree>
    <p:extLst>
      <p:ext uri="{BB962C8B-B14F-4D97-AF65-F5344CB8AC3E}">
        <p14:creationId xmlns:p14="http://schemas.microsoft.com/office/powerpoint/2010/main" val="2813832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F3635-A130-D556-7B96-3AD66F53FFCB}"/>
              </a:ext>
            </a:extLst>
          </p:cNvPr>
          <p:cNvSpPr>
            <a:spLocks noGrp="1"/>
          </p:cNvSpPr>
          <p:nvPr>
            <p:ph type="title"/>
          </p:nvPr>
        </p:nvSpPr>
        <p:spPr/>
        <p:txBody>
          <a:bodyPr/>
          <a:lstStyle/>
          <a:p>
            <a:r>
              <a:rPr lang="en-US" dirty="0"/>
              <a:t>The "Robustness-Efficiency" Gap</a:t>
            </a:r>
          </a:p>
        </p:txBody>
      </p:sp>
      <p:sp>
        <p:nvSpPr>
          <p:cNvPr id="3" name="Content Placeholder 2">
            <a:extLst>
              <a:ext uri="{FF2B5EF4-FFF2-40B4-BE49-F238E27FC236}">
                <a16:creationId xmlns:a16="http://schemas.microsoft.com/office/drawing/2014/main" id="{B5D4842B-93E4-32EE-2324-53BDBE58B2B8}"/>
              </a:ext>
            </a:extLst>
          </p:cNvPr>
          <p:cNvSpPr>
            <a:spLocks noGrp="1"/>
          </p:cNvSpPr>
          <p:nvPr>
            <p:ph idx="1"/>
          </p:nvPr>
        </p:nvSpPr>
        <p:spPr/>
        <p:txBody>
          <a:bodyPr/>
          <a:lstStyle/>
          <a:p>
            <a:r>
              <a:rPr lang="en-US" dirty="0"/>
              <a:t>The Conflict:</a:t>
            </a:r>
          </a:p>
          <a:p>
            <a:pPr lvl="1"/>
            <a:r>
              <a:rPr lang="en-US" dirty="0"/>
              <a:t>Modern SLR systems face a dichotomy: Accuracy vs. Speed.</a:t>
            </a:r>
          </a:p>
          <a:p>
            <a:pPr lvl="1"/>
            <a:r>
              <a:rPr lang="en-US" b="1" dirty="0"/>
              <a:t>High-Performance Models:</a:t>
            </a:r>
            <a:r>
              <a:rPr lang="en-US" dirty="0"/>
              <a:t> Rely on heavy Optical Flow or massive Graph Neural Networks (GNNs).</a:t>
            </a:r>
          </a:p>
          <a:p>
            <a:pPr lvl="1"/>
            <a:r>
              <a:rPr lang="en-US" b="1" dirty="0"/>
              <a:t>The Cost:</a:t>
            </a:r>
            <a:r>
              <a:rPr lang="en-US" dirty="0"/>
              <a:t> Prohibitive computational costs and "black-box" complexity.</a:t>
            </a:r>
          </a:p>
          <a:p>
            <a:pPr lvl="1"/>
            <a:endParaRPr lang="en-US" dirty="0"/>
          </a:p>
          <a:p>
            <a:r>
              <a:rPr lang="en-US" dirty="0"/>
              <a:t>The Real-World Issue:</a:t>
            </a:r>
          </a:p>
          <a:p>
            <a:pPr lvl="1"/>
            <a:r>
              <a:rPr lang="en-US" dirty="0"/>
              <a:t>Latency is critical for deployment.</a:t>
            </a:r>
          </a:p>
          <a:p>
            <a:pPr lvl="1"/>
            <a:r>
              <a:rPr lang="en-US" dirty="0"/>
              <a:t>Standard RGB models fail during </a:t>
            </a:r>
            <a:r>
              <a:rPr lang="en-US" b="1" dirty="0"/>
              <a:t>rapid gestures</a:t>
            </a:r>
            <a:r>
              <a:rPr lang="en-US" dirty="0"/>
              <a:t> or </a:t>
            </a:r>
            <a:r>
              <a:rPr lang="en-US" b="1" dirty="0"/>
              <a:t>hand occlusions.</a:t>
            </a:r>
            <a:endParaRPr lang="en-US" dirty="0"/>
          </a:p>
        </p:txBody>
      </p:sp>
      <p:sp>
        <p:nvSpPr>
          <p:cNvPr id="4" name="Footer Placeholder 3">
            <a:extLst>
              <a:ext uri="{FF2B5EF4-FFF2-40B4-BE49-F238E27FC236}">
                <a16:creationId xmlns:a16="http://schemas.microsoft.com/office/drawing/2014/main" id="{2AC8DAE0-F06F-DE73-8F6F-0836FD09A9D6}"/>
              </a:ext>
            </a:extLst>
          </p:cNvPr>
          <p:cNvSpPr>
            <a:spLocks noGrp="1"/>
          </p:cNvSpPr>
          <p:nvPr>
            <p:ph type="ftr" sz="quarter" idx="11"/>
          </p:nvPr>
        </p:nvSpPr>
        <p:spPr/>
        <p:txBody>
          <a:bodyPr/>
          <a:lstStyle/>
          <a:p>
            <a:pPr marL="0" indent="0">
              <a:buNone/>
            </a:pPr>
            <a:endParaRPr lang="ko-KR" altLang="en-US" dirty="0"/>
          </a:p>
        </p:txBody>
      </p:sp>
      <p:sp>
        <p:nvSpPr>
          <p:cNvPr id="5" name="Slide Number Placeholder 4">
            <a:extLst>
              <a:ext uri="{FF2B5EF4-FFF2-40B4-BE49-F238E27FC236}">
                <a16:creationId xmlns:a16="http://schemas.microsoft.com/office/drawing/2014/main" id="{59CFA834-9C60-3E50-7159-BB0631F72E32}"/>
              </a:ext>
            </a:extLst>
          </p:cNvPr>
          <p:cNvSpPr>
            <a:spLocks noGrp="1"/>
          </p:cNvSpPr>
          <p:nvPr>
            <p:ph type="sldNum" sz="quarter" idx="4"/>
          </p:nvPr>
        </p:nvSpPr>
        <p:spPr/>
        <p:txBody>
          <a:bodyPr/>
          <a:lstStyle/>
          <a:p>
            <a:fld id="{1C8FA38B-43AE-4C7F-AC62-93C06D579860}" type="slidenum">
              <a:rPr lang="ko-KR" altLang="en-US" smtClean="0"/>
              <a:pPr/>
              <a:t>2</a:t>
            </a:fld>
            <a:endParaRPr lang="ko-KR" altLang="en-US" dirty="0"/>
          </a:p>
        </p:txBody>
      </p:sp>
      <p:pic>
        <p:nvPicPr>
          <p:cNvPr id="6" name="Picture 2" descr="BigComp 2026 Logo">
            <a:extLst>
              <a:ext uri="{FF2B5EF4-FFF2-40B4-BE49-F238E27FC236}">
                <a16:creationId xmlns:a16="http://schemas.microsoft.com/office/drawing/2014/main" id="{3E88909A-CE68-9322-94A6-E35945317479}"/>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259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78130-E0AB-2888-B16E-48AD9C281280}"/>
              </a:ext>
            </a:extLst>
          </p:cNvPr>
          <p:cNvSpPr>
            <a:spLocks noGrp="1"/>
          </p:cNvSpPr>
          <p:nvPr>
            <p:ph type="title"/>
          </p:nvPr>
        </p:nvSpPr>
        <p:spPr/>
        <p:txBody>
          <a:bodyPr/>
          <a:lstStyle/>
          <a:p>
            <a:r>
              <a:rPr lang="en-US" dirty="0"/>
              <a:t>Our Solution – The Doppler-Enhanced Approach</a:t>
            </a:r>
          </a:p>
        </p:txBody>
      </p:sp>
      <p:sp>
        <p:nvSpPr>
          <p:cNvPr id="3" name="Content Placeholder 2">
            <a:extLst>
              <a:ext uri="{FF2B5EF4-FFF2-40B4-BE49-F238E27FC236}">
                <a16:creationId xmlns:a16="http://schemas.microsoft.com/office/drawing/2014/main" id="{4BB76D35-47FA-CE5A-27F5-165F3B0FD548}"/>
              </a:ext>
            </a:extLst>
          </p:cNvPr>
          <p:cNvSpPr>
            <a:spLocks noGrp="1"/>
          </p:cNvSpPr>
          <p:nvPr>
            <p:ph idx="1"/>
          </p:nvPr>
        </p:nvSpPr>
        <p:spPr>
          <a:xfrm>
            <a:off x="268816" y="1042328"/>
            <a:ext cx="7332134" cy="3542372"/>
          </a:xfrm>
        </p:spPr>
        <p:txBody>
          <a:bodyPr>
            <a:normAutofit fontScale="92500" lnSpcReduction="10000"/>
          </a:bodyPr>
          <a:lstStyle/>
          <a:p>
            <a:r>
              <a:rPr lang="en-US" b="1" dirty="0"/>
              <a:t>Core Concept:</a:t>
            </a:r>
            <a:r>
              <a:rPr lang="en-US" dirty="0"/>
              <a:t> A "Doppler Motion Stream".</a:t>
            </a:r>
          </a:p>
          <a:p>
            <a:r>
              <a:rPr lang="en-US" dirty="0"/>
              <a:t>The Insight:</a:t>
            </a:r>
          </a:p>
          <a:p>
            <a:pPr lvl="1"/>
            <a:r>
              <a:rPr lang="en-US" dirty="0"/>
              <a:t>Instead of complex flow estimation, we use a lightweight "Doppler" analog.</a:t>
            </a:r>
          </a:p>
          <a:p>
            <a:pPr lvl="1"/>
            <a:r>
              <a:rPr lang="en-US" b="1" dirty="0"/>
              <a:t>Frame Differencing: </a:t>
            </a:r>
            <a:r>
              <a:rPr lang="en-US" dirty="0">
                <a:latin typeface="Bell MT" panose="02020503060305020303" pitchFamily="18" charset="0"/>
              </a:rPr>
              <a:t>D</a:t>
            </a:r>
            <a:r>
              <a:rPr lang="en-US" baseline="-25000" dirty="0">
                <a:latin typeface="Bell MT" panose="02020503060305020303" pitchFamily="18" charset="0"/>
              </a:rPr>
              <a:t>t</a:t>
            </a:r>
            <a:r>
              <a:rPr lang="en-US" dirty="0">
                <a:latin typeface="Bell MT" panose="02020503060305020303" pitchFamily="18" charset="0"/>
              </a:rPr>
              <a:t> = f</a:t>
            </a:r>
            <a:r>
              <a:rPr lang="en-US" baseline="-25000" dirty="0">
                <a:latin typeface="Bell MT" panose="02020503060305020303" pitchFamily="18" charset="0"/>
              </a:rPr>
              <a:t>t </a:t>
            </a:r>
            <a:r>
              <a:rPr lang="en-US" dirty="0">
                <a:latin typeface="Bell MT" panose="02020503060305020303" pitchFamily="18" charset="0"/>
              </a:rPr>
              <a:t>– f</a:t>
            </a:r>
            <a:r>
              <a:rPr lang="en-US" baseline="-25000" dirty="0">
                <a:latin typeface="Bell MT" panose="02020503060305020303" pitchFamily="18" charset="0"/>
              </a:rPr>
              <a:t>t-1</a:t>
            </a:r>
          </a:p>
          <a:p>
            <a:pPr lvl="1"/>
            <a:endParaRPr lang="en-US" baseline="-25000" dirty="0">
              <a:latin typeface="Bell MT" panose="02020503060305020303" pitchFamily="18" charset="0"/>
            </a:endParaRPr>
          </a:p>
          <a:p>
            <a:r>
              <a:rPr lang="en-US" dirty="0"/>
              <a:t>Why it Works:</a:t>
            </a:r>
          </a:p>
          <a:p>
            <a:pPr lvl="1"/>
            <a:r>
              <a:rPr lang="en-US" b="1" dirty="0"/>
              <a:t>Noise Suppression</a:t>
            </a:r>
            <a:r>
              <a:rPr lang="en-US" dirty="0"/>
              <a:t>: Static backgrounds (D</a:t>
            </a:r>
            <a:r>
              <a:rPr lang="en-US" baseline="-25000" dirty="0"/>
              <a:t>t</a:t>
            </a:r>
            <a:r>
              <a:rPr lang="en-US" dirty="0"/>
              <a:t> ≈ 0) naturally disappear.</a:t>
            </a:r>
          </a:p>
          <a:p>
            <a:pPr lvl="1"/>
            <a:r>
              <a:rPr lang="en-US" b="1" dirty="0"/>
              <a:t>Edge Enhancement:</a:t>
            </a:r>
            <a:r>
              <a:rPr lang="en-US" dirty="0"/>
              <a:t> Rapid movements create strong difference boundaries, sketching the hand's trajectory.</a:t>
            </a:r>
          </a:p>
        </p:txBody>
      </p:sp>
      <p:sp>
        <p:nvSpPr>
          <p:cNvPr id="4" name="Footer Placeholder 3">
            <a:extLst>
              <a:ext uri="{FF2B5EF4-FFF2-40B4-BE49-F238E27FC236}">
                <a16:creationId xmlns:a16="http://schemas.microsoft.com/office/drawing/2014/main" id="{E7F6C9C8-9632-A8C5-A2B7-274C31E8A778}"/>
              </a:ext>
            </a:extLst>
          </p:cNvPr>
          <p:cNvSpPr>
            <a:spLocks noGrp="1"/>
          </p:cNvSpPr>
          <p:nvPr>
            <p:ph type="ftr" sz="quarter" idx="11"/>
          </p:nvPr>
        </p:nvSpPr>
        <p:spPr/>
        <p:txBody>
          <a:bodyPr/>
          <a:lstStyle/>
          <a:p>
            <a:pPr marL="0" indent="0">
              <a:buNone/>
            </a:pPr>
            <a:endParaRPr lang="ko-KR" altLang="en-US" dirty="0"/>
          </a:p>
        </p:txBody>
      </p:sp>
      <p:sp>
        <p:nvSpPr>
          <p:cNvPr id="5" name="Slide Number Placeholder 4">
            <a:extLst>
              <a:ext uri="{FF2B5EF4-FFF2-40B4-BE49-F238E27FC236}">
                <a16:creationId xmlns:a16="http://schemas.microsoft.com/office/drawing/2014/main" id="{461B84BA-3113-13D7-34A5-DB14FB3EDE95}"/>
              </a:ext>
            </a:extLst>
          </p:cNvPr>
          <p:cNvSpPr>
            <a:spLocks noGrp="1"/>
          </p:cNvSpPr>
          <p:nvPr>
            <p:ph type="sldNum" sz="quarter" idx="4"/>
          </p:nvPr>
        </p:nvSpPr>
        <p:spPr/>
        <p:txBody>
          <a:bodyPr/>
          <a:lstStyle/>
          <a:p>
            <a:fld id="{1C8FA38B-43AE-4C7F-AC62-93C06D579860}" type="slidenum">
              <a:rPr lang="ko-KR" altLang="en-US" smtClean="0"/>
              <a:pPr/>
              <a:t>3</a:t>
            </a:fld>
            <a:endParaRPr lang="ko-KR" altLang="en-US" dirty="0"/>
          </a:p>
        </p:txBody>
      </p:sp>
      <p:pic>
        <p:nvPicPr>
          <p:cNvPr id="7" name="Picture 6">
            <a:extLst>
              <a:ext uri="{FF2B5EF4-FFF2-40B4-BE49-F238E27FC236}">
                <a16:creationId xmlns:a16="http://schemas.microsoft.com/office/drawing/2014/main" id="{4349D1C9-F18D-5961-207E-46EEE49C35E6}"/>
              </a:ext>
            </a:extLst>
          </p:cNvPr>
          <p:cNvPicPr>
            <a:picLocks noChangeAspect="1"/>
          </p:cNvPicPr>
          <p:nvPr/>
        </p:nvPicPr>
        <p:blipFill>
          <a:blip r:embed="rId3"/>
          <a:srcRect l="3428" r="3742" b="2480"/>
          <a:stretch>
            <a:fillRect/>
          </a:stretch>
        </p:blipFill>
        <p:spPr>
          <a:xfrm>
            <a:off x="8030633" y="1366178"/>
            <a:ext cx="3822700" cy="2007904"/>
          </a:xfrm>
          <a:prstGeom prst="rect">
            <a:avLst/>
          </a:prstGeom>
        </p:spPr>
      </p:pic>
      <p:pic>
        <p:nvPicPr>
          <p:cNvPr id="9" name="Picture 8">
            <a:extLst>
              <a:ext uri="{FF2B5EF4-FFF2-40B4-BE49-F238E27FC236}">
                <a16:creationId xmlns:a16="http://schemas.microsoft.com/office/drawing/2014/main" id="{9F80EB56-2261-8A16-E758-A89FF5B90834}"/>
              </a:ext>
            </a:extLst>
          </p:cNvPr>
          <p:cNvPicPr>
            <a:picLocks noChangeAspect="1"/>
          </p:cNvPicPr>
          <p:nvPr/>
        </p:nvPicPr>
        <p:blipFill>
          <a:blip r:embed="rId4"/>
          <a:srcRect l="3627" t="-1" r="3234" b="3235"/>
          <a:stretch>
            <a:fillRect/>
          </a:stretch>
        </p:blipFill>
        <p:spPr>
          <a:xfrm>
            <a:off x="8030633" y="3632200"/>
            <a:ext cx="3865267" cy="2007904"/>
          </a:xfrm>
          <a:prstGeom prst="rect">
            <a:avLst/>
          </a:prstGeom>
        </p:spPr>
      </p:pic>
      <p:pic>
        <p:nvPicPr>
          <p:cNvPr id="6" name="Picture 2" descr="BigComp 2026 Logo">
            <a:extLst>
              <a:ext uri="{FF2B5EF4-FFF2-40B4-BE49-F238E27FC236}">
                <a16:creationId xmlns:a16="http://schemas.microsoft.com/office/drawing/2014/main" id="{AAEF0E98-8EA7-E6C0-4E43-A56976FC3ED3}"/>
              </a:ext>
            </a:extLst>
          </p:cNvPr>
          <p:cNvPicPr>
            <a:picLocks noChangeAspect="1" noChangeArrowheads="1"/>
          </p:cNvPicPr>
          <p:nvPr/>
        </p:nvPicPr>
        <p:blipFill>
          <a:blip r:embed="rId5">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120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110F-4F2E-FEEB-C508-AA491EBE4ACD}"/>
              </a:ext>
            </a:extLst>
          </p:cNvPr>
          <p:cNvSpPr>
            <a:spLocks noGrp="1"/>
          </p:cNvSpPr>
          <p:nvPr>
            <p:ph type="title"/>
          </p:nvPr>
        </p:nvSpPr>
        <p:spPr/>
        <p:txBody>
          <a:bodyPr/>
          <a:lstStyle/>
          <a:p>
            <a:r>
              <a:rPr lang="en-US" dirty="0"/>
              <a:t>Methodology – The Multi-Stream Architecture</a:t>
            </a:r>
          </a:p>
        </p:txBody>
      </p:sp>
      <p:sp>
        <p:nvSpPr>
          <p:cNvPr id="3" name="Content Placeholder 2">
            <a:extLst>
              <a:ext uri="{FF2B5EF4-FFF2-40B4-BE49-F238E27FC236}">
                <a16:creationId xmlns:a16="http://schemas.microsoft.com/office/drawing/2014/main" id="{6414E2FD-90F4-CB22-FC7E-C0E9B8121C86}"/>
              </a:ext>
            </a:extLst>
          </p:cNvPr>
          <p:cNvSpPr>
            <a:spLocks noGrp="1"/>
          </p:cNvSpPr>
          <p:nvPr>
            <p:ph idx="1"/>
          </p:nvPr>
        </p:nvSpPr>
        <p:spPr>
          <a:xfrm>
            <a:off x="116417" y="3633128"/>
            <a:ext cx="11573933" cy="2424772"/>
          </a:xfrm>
        </p:spPr>
        <p:txBody>
          <a:bodyPr/>
          <a:lstStyle/>
          <a:p>
            <a:r>
              <a:rPr lang="en-US" sz="2000" dirty="0"/>
              <a:t>Three Parallel Streams:</a:t>
            </a:r>
          </a:p>
          <a:p>
            <a:pPr marL="914400" lvl="1" indent="-457200">
              <a:buFont typeface="+mj-lt"/>
              <a:buAutoNum type="arabicPeriod"/>
            </a:pPr>
            <a:r>
              <a:rPr lang="en-US" b="1" dirty="0"/>
              <a:t>Video (RGB): </a:t>
            </a:r>
            <a:r>
              <a:rPr lang="en-US" dirty="0"/>
              <a:t>Captures texture and general context.</a:t>
            </a:r>
          </a:p>
          <a:p>
            <a:pPr marL="914400" lvl="1" indent="-457200">
              <a:buFont typeface="+mj-lt"/>
              <a:buAutoNum type="arabicPeriod"/>
            </a:pPr>
            <a:r>
              <a:rPr lang="en-US" b="1" dirty="0"/>
              <a:t>Keypoints (Structure): </a:t>
            </a:r>
            <a:r>
              <a:rPr lang="en-US" dirty="0"/>
              <a:t>Uses 79 keypoints (</a:t>
            </a:r>
            <a:r>
              <a:rPr lang="en-US" dirty="0" err="1"/>
              <a:t>Dsc-hrnet</a:t>
            </a:r>
            <a:r>
              <a:rPr lang="en-US" dirty="0"/>
              <a:t>) converted to Gaussian heatmaps for fine-grained</a:t>
            </a:r>
            <a:br>
              <a:rPr lang="en-US" dirty="0"/>
            </a:br>
            <a:r>
              <a:rPr lang="en-US" dirty="0"/>
              <a:t>structure.</a:t>
            </a:r>
          </a:p>
          <a:p>
            <a:pPr marL="914400" lvl="1" indent="-457200">
              <a:buFont typeface="+mj-lt"/>
              <a:buAutoNum type="arabicPeriod"/>
            </a:pPr>
            <a:r>
              <a:rPr lang="en-US" b="1" dirty="0"/>
              <a:t>Doppler (Dynamics):</a:t>
            </a:r>
            <a:r>
              <a:rPr lang="en-US" dirty="0"/>
              <a:t> Our novel stream for explicit motion modeling.</a:t>
            </a:r>
          </a:p>
          <a:p>
            <a:pPr marL="457200" lvl="1" indent="0">
              <a:buNone/>
            </a:pPr>
            <a:endParaRPr lang="en-US" dirty="0"/>
          </a:p>
        </p:txBody>
      </p:sp>
      <p:sp>
        <p:nvSpPr>
          <p:cNvPr id="4" name="Footer Placeholder 3">
            <a:extLst>
              <a:ext uri="{FF2B5EF4-FFF2-40B4-BE49-F238E27FC236}">
                <a16:creationId xmlns:a16="http://schemas.microsoft.com/office/drawing/2014/main" id="{DF3C5F7F-B250-0B90-F7C2-C0C2659850A8}"/>
              </a:ext>
            </a:extLst>
          </p:cNvPr>
          <p:cNvSpPr>
            <a:spLocks noGrp="1"/>
          </p:cNvSpPr>
          <p:nvPr>
            <p:ph type="ftr" sz="quarter" idx="11"/>
          </p:nvPr>
        </p:nvSpPr>
        <p:spPr/>
        <p:txBody>
          <a:bodyPr/>
          <a:lstStyle/>
          <a:p>
            <a:endParaRPr lang="ko-KR" altLang="en-US" dirty="0"/>
          </a:p>
        </p:txBody>
      </p:sp>
      <p:sp>
        <p:nvSpPr>
          <p:cNvPr id="5" name="Slide Number Placeholder 4">
            <a:extLst>
              <a:ext uri="{FF2B5EF4-FFF2-40B4-BE49-F238E27FC236}">
                <a16:creationId xmlns:a16="http://schemas.microsoft.com/office/drawing/2014/main" id="{976A942A-C45F-7FFA-016D-F18DA8B90131}"/>
              </a:ext>
            </a:extLst>
          </p:cNvPr>
          <p:cNvSpPr>
            <a:spLocks noGrp="1"/>
          </p:cNvSpPr>
          <p:nvPr>
            <p:ph type="sldNum" sz="quarter" idx="4"/>
          </p:nvPr>
        </p:nvSpPr>
        <p:spPr/>
        <p:txBody>
          <a:bodyPr/>
          <a:lstStyle/>
          <a:p>
            <a:fld id="{1C8FA38B-43AE-4C7F-AC62-93C06D579860}" type="slidenum">
              <a:rPr lang="ko-KR" altLang="en-US" smtClean="0"/>
              <a:pPr/>
              <a:t>4</a:t>
            </a:fld>
            <a:endParaRPr lang="ko-KR" altLang="en-US" dirty="0"/>
          </a:p>
        </p:txBody>
      </p:sp>
      <p:pic>
        <p:nvPicPr>
          <p:cNvPr id="9" name="Picture 8">
            <a:extLst>
              <a:ext uri="{FF2B5EF4-FFF2-40B4-BE49-F238E27FC236}">
                <a16:creationId xmlns:a16="http://schemas.microsoft.com/office/drawing/2014/main" id="{B413550C-B33C-912F-DF04-E113B59346BA}"/>
              </a:ext>
            </a:extLst>
          </p:cNvPr>
          <p:cNvPicPr>
            <a:picLocks noChangeAspect="1"/>
          </p:cNvPicPr>
          <p:nvPr/>
        </p:nvPicPr>
        <p:blipFill>
          <a:blip r:embed="rId3"/>
          <a:srcRect/>
          <a:stretch/>
        </p:blipFill>
        <p:spPr>
          <a:xfrm>
            <a:off x="5891347" y="698372"/>
            <a:ext cx="5961986" cy="3374423"/>
          </a:xfrm>
          <a:prstGeom prst="rect">
            <a:avLst/>
          </a:prstGeom>
        </p:spPr>
      </p:pic>
      <p:pic>
        <p:nvPicPr>
          <p:cNvPr id="6" name="Picture 2" descr="BigComp 2026 Logo">
            <a:extLst>
              <a:ext uri="{FF2B5EF4-FFF2-40B4-BE49-F238E27FC236}">
                <a16:creationId xmlns:a16="http://schemas.microsoft.com/office/drawing/2014/main" id="{0EE19A68-0861-67F8-944C-A189ECE82388}"/>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14E7AFE5-64EC-E907-7372-B7D6F3D46479}"/>
              </a:ext>
            </a:extLst>
          </p:cNvPr>
          <p:cNvPicPr>
            <a:picLocks noChangeAspect="1"/>
          </p:cNvPicPr>
          <p:nvPr/>
        </p:nvPicPr>
        <p:blipFill>
          <a:blip r:embed="rId5">
            <a:extLst>
              <a:ext uri="{28A0092B-C50C-407E-A947-70E740481C1C}">
                <a14:useLocalDpi xmlns:a14="http://schemas.microsoft.com/office/drawing/2010/main" val="0"/>
              </a:ext>
            </a:extLst>
          </a:blip>
          <a:srcRect r="50000"/>
          <a:stretch>
            <a:fillRect/>
          </a:stretch>
        </p:blipFill>
        <p:spPr>
          <a:xfrm>
            <a:off x="6153150" y="841573"/>
            <a:ext cx="1035050" cy="806450"/>
          </a:xfrm>
          <a:prstGeom prst="rect">
            <a:avLst/>
          </a:prstGeom>
        </p:spPr>
      </p:pic>
      <p:pic>
        <p:nvPicPr>
          <p:cNvPr id="21" name="Picture 20">
            <a:extLst>
              <a:ext uri="{FF2B5EF4-FFF2-40B4-BE49-F238E27FC236}">
                <a16:creationId xmlns:a16="http://schemas.microsoft.com/office/drawing/2014/main" id="{BA876DDA-9633-7281-BC28-26631372CCFC}"/>
              </a:ext>
            </a:extLst>
          </p:cNvPr>
          <p:cNvPicPr>
            <a:picLocks noChangeAspect="1"/>
          </p:cNvPicPr>
          <p:nvPr/>
        </p:nvPicPr>
        <p:blipFill>
          <a:blip r:embed="rId5">
            <a:extLst>
              <a:ext uri="{28A0092B-C50C-407E-A947-70E740481C1C}">
                <a14:useLocalDpi xmlns:a14="http://schemas.microsoft.com/office/drawing/2010/main" val="0"/>
              </a:ext>
            </a:extLst>
          </a:blip>
          <a:srcRect l="50000"/>
          <a:stretch>
            <a:fillRect/>
          </a:stretch>
        </p:blipFill>
        <p:spPr>
          <a:xfrm>
            <a:off x="6153150" y="2946400"/>
            <a:ext cx="1035050" cy="806450"/>
          </a:xfrm>
          <a:prstGeom prst="rect">
            <a:avLst/>
          </a:prstGeom>
        </p:spPr>
      </p:pic>
      <p:pic>
        <p:nvPicPr>
          <p:cNvPr id="25" name="Picture 24">
            <a:extLst>
              <a:ext uri="{FF2B5EF4-FFF2-40B4-BE49-F238E27FC236}">
                <a16:creationId xmlns:a16="http://schemas.microsoft.com/office/drawing/2014/main" id="{15EAE38B-AF92-17E5-A63A-F375B311D1E7}"/>
              </a:ext>
            </a:extLst>
          </p:cNvPr>
          <p:cNvPicPr>
            <a:picLocks noChangeAspect="1"/>
          </p:cNvPicPr>
          <p:nvPr/>
        </p:nvPicPr>
        <p:blipFill>
          <a:blip r:embed="rId6">
            <a:extLst>
              <a:ext uri="{28A0092B-C50C-407E-A947-70E740481C1C}">
                <a14:useLocalDpi xmlns:a14="http://schemas.microsoft.com/office/drawing/2010/main" val="0"/>
              </a:ext>
            </a:extLst>
          </a:blip>
          <a:srcRect l="31042" t="19063" r="34653" b="25581"/>
          <a:stretch>
            <a:fillRect/>
          </a:stretch>
        </p:blipFill>
        <p:spPr>
          <a:xfrm>
            <a:off x="6154603" y="1877025"/>
            <a:ext cx="1033597" cy="806451"/>
          </a:xfrm>
          <a:prstGeom prst="rect">
            <a:avLst/>
          </a:prstGeom>
        </p:spPr>
      </p:pic>
    </p:spTree>
    <p:extLst>
      <p:ext uri="{BB962C8B-B14F-4D97-AF65-F5344CB8AC3E}">
        <p14:creationId xmlns:p14="http://schemas.microsoft.com/office/powerpoint/2010/main" val="802467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AD789-D709-2FA3-89DC-C4A3378CFA65}"/>
              </a:ext>
            </a:extLst>
          </p:cNvPr>
          <p:cNvSpPr>
            <a:spLocks noGrp="1"/>
          </p:cNvSpPr>
          <p:nvPr>
            <p:ph type="title"/>
          </p:nvPr>
        </p:nvSpPr>
        <p:spPr/>
        <p:txBody>
          <a:bodyPr/>
          <a:lstStyle/>
          <a:p>
            <a:r>
              <a:rPr lang="en-US" dirty="0"/>
              <a:t>Why "Doppler" is Better than Optical Flow</a:t>
            </a:r>
          </a:p>
        </p:txBody>
      </p:sp>
      <p:sp>
        <p:nvSpPr>
          <p:cNvPr id="3" name="Content Placeholder 2">
            <a:extLst>
              <a:ext uri="{FF2B5EF4-FFF2-40B4-BE49-F238E27FC236}">
                <a16:creationId xmlns:a16="http://schemas.microsoft.com/office/drawing/2014/main" id="{7B9EA3C5-1C04-FFD4-4A58-C2F4FA89B86A}"/>
              </a:ext>
            </a:extLst>
          </p:cNvPr>
          <p:cNvSpPr>
            <a:spLocks noGrp="1"/>
          </p:cNvSpPr>
          <p:nvPr>
            <p:ph idx="1"/>
          </p:nvPr>
        </p:nvSpPr>
        <p:spPr/>
        <p:txBody>
          <a:bodyPr/>
          <a:lstStyle/>
          <a:p>
            <a:r>
              <a:rPr lang="en-US" dirty="0"/>
              <a:t>Computational Complexity:</a:t>
            </a:r>
          </a:p>
          <a:p>
            <a:pPr lvl="1"/>
            <a:r>
              <a:rPr lang="en-US" b="1" dirty="0"/>
              <a:t>Optical Flow:</a:t>
            </a:r>
            <a:r>
              <a:rPr lang="en-US" dirty="0"/>
              <a:t> Solves complex optimization equations.</a:t>
            </a:r>
          </a:p>
          <a:p>
            <a:pPr lvl="1"/>
            <a:r>
              <a:rPr lang="en-US" b="1" dirty="0"/>
              <a:t>Doppler Stream:</a:t>
            </a:r>
            <a:r>
              <a:rPr lang="en-US" dirty="0"/>
              <a:t> Simple O(1) operation per pixel.</a:t>
            </a:r>
          </a:p>
          <a:p>
            <a:endParaRPr lang="en-US" dirty="0"/>
          </a:p>
          <a:p>
            <a:r>
              <a:rPr lang="en-US" dirty="0"/>
              <a:t>Visualizing the Difference:</a:t>
            </a:r>
          </a:p>
          <a:p>
            <a:pPr lvl="1"/>
            <a:r>
              <a:rPr lang="en-US" b="1" dirty="0"/>
              <a:t>Raw Trajectory:</a:t>
            </a:r>
            <a:r>
              <a:rPr lang="en-US" dirty="0"/>
              <a:t> Noisy, micro-jitters.</a:t>
            </a:r>
          </a:p>
          <a:p>
            <a:pPr lvl="1"/>
            <a:r>
              <a:rPr lang="en-US" b="1" dirty="0"/>
              <a:t>Doppler-Enhanced:</a:t>
            </a:r>
            <a:r>
              <a:rPr lang="en-US" dirty="0"/>
              <a:t> Emphasizes directional flow and filters noise.</a:t>
            </a:r>
          </a:p>
        </p:txBody>
      </p:sp>
      <p:sp>
        <p:nvSpPr>
          <p:cNvPr id="4" name="Footer Placeholder 3">
            <a:extLst>
              <a:ext uri="{FF2B5EF4-FFF2-40B4-BE49-F238E27FC236}">
                <a16:creationId xmlns:a16="http://schemas.microsoft.com/office/drawing/2014/main" id="{84116739-A68E-0163-79F0-3AC3ECBF972B}"/>
              </a:ext>
            </a:extLst>
          </p:cNvPr>
          <p:cNvSpPr>
            <a:spLocks noGrp="1"/>
          </p:cNvSpPr>
          <p:nvPr>
            <p:ph type="ftr" sz="quarter" idx="11"/>
          </p:nvPr>
        </p:nvSpPr>
        <p:spPr/>
        <p:txBody>
          <a:bodyPr/>
          <a:lstStyle/>
          <a:p>
            <a:endParaRPr lang="ko-KR" altLang="en-US" dirty="0"/>
          </a:p>
        </p:txBody>
      </p:sp>
      <p:sp>
        <p:nvSpPr>
          <p:cNvPr id="5" name="Slide Number Placeholder 4">
            <a:extLst>
              <a:ext uri="{FF2B5EF4-FFF2-40B4-BE49-F238E27FC236}">
                <a16:creationId xmlns:a16="http://schemas.microsoft.com/office/drawing/2014/main" id="{33DE8CA0-9476-46B1-9F71-E79F549CEE85}"/>
              </a:ext>
            </a:extLst>
          </p:cNvPr>
          <p:cNvSpPr>
            <a:spLocks noGrp="1"/>
          </p:cNvSpPr>
          <p:nvPr>
            <p:ph type="sldNum" sz="quarter" idx="4"/>
          </p:nvPr>
        </p:nvSpPr>
        <p:spPr/>
        <p:txBody>
          <a:bodyPr/>
          <a:lstStyle/>
          <a:p>
            <a:fld id="{1C8FA38B-43AE-4C7F-AC62-93C06D579860}" type="slidenum">
              <a:rPr lang="ko-KR" altLang="en-US" smtClean="0"/>
              <a:pPr/>
              <a:t>5</a:t>
            </a:fld>
            <a:endParaRPr lang="ko-KR" altLang="en-US" dirty="0"/>
          </a:p>
        </p:txBody>
      </p:sp>
      <p:pic>
        <p:nvPicPr>
          <p:cNvPr id="8" name="Picture 7">
            <a:extLst>
              <a:ext uri="{FF2B5EF4-FFF2-40B4-BE49-F238E27FC236}">
                <a16:creationId xmlns:a16="http://schemas.microsoft.com/office/drawing/2014/main" id="{697ED89F-62F9-DAB9-876B-9D65063A0FE9}"/>
              </a:ext>
            </a:extLst>
          </p:cNvPr>
          <p:cNvPicPr>
            <a:picLocks noChangeAspect="1"/>
          </p:cNvPicPr>
          <p:nvPr/>
        </p:nvPicPr>
        <p:blipFill>
          <a:blip r:embed="rId3"/>
          <a:stretch>
            <a:fillRect/>
          </a:stretch>
        </p:blipFill>
        <p:spPr>
          <a:xfrm>
            <a:off x="7568217" y="1152250"/>
            <a:ext cx="3988878" cy="2181500"/>
          </a:xfrm>
          <a:prstGeom prst="rect">
            <a:avLst/>
          </a:prstGeom>
        </p:spPr>
      </p:pic>
      <p:pic>
        <p:nvPicPr>
          <p:cNvPr id="6" name="Picture 2" descr="BigComp 2026 Logo">
            <a:extLst>
              <a:ext uri="{FF2B5EF4-FFF2-40B4-BE49-F238E27FC236}">
                <a16:creationId xmlns:a16="http://schemas.microsoft.com/office/drawing/2014/main" id="{CFBAB1DC-703E-A8D4-9B55-FF1FB9EC216E}"/>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313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B041-224D-8686-A324-EAFA221232B7}"/>
              </a:ext>
            </a:extLst>
          </p:cNvPr>
          <p:cNvSpPr>
            <a:spLocks noGrp="1"/>
          </p:cNvSpPr>
          <p:nvPr>
            <p:ph type="title"/>
          </p:nvPr>
        </p:nvSpPr>
        <p:spPr/>
        <p:txBody>
          <a:bodyPr/>
          <a:lstStyle/>
          <a:p>
            <a:r>
              <a:rPr lang="en-US" dirty="0"/>
              <a:t>Experimental Results</a:t>
            </a:r>
          </a:p>
        </p:txBody>
      </p:sp>
      <p:sp>
        <p:nvSpPr>
          <p:cNvPr id="4" name="Footer Placeholder 3">
            <a:extLst>
              <a:ext uri="{FF2B5EF4-FFF2-40B4-BE49-F238E27FC236}">
                <a16:creationId xmlns:a16="http://schemas.microsoft.com/office/drawing/2014/main" id="{BB6251FA-18C7-2F4D-0AF3-18347737B6EE}"/>
              </a:ext>
            </a:extLst>
          </p:cNvPr>
          <p:cNvSpPr>
            <a:spLocks noGrp="1"/>
          </p:cNvSpPr>
          <p:nvPr>
            <p:ph type="ftr" sz="quarter" idx="11"/>
          </p:nvPr>
        </p:nvSpPr>
        <p:spPr/>
        <p:txBody>
          <a:bodyPr/>
          <a:lstStyle/>
          <a:p>
            <a:endParaRPr lang="ko-KR" altLang="en-US" dirty="0"/>
          </a:p>
        </p:txBody>
      </p:sp>
      <p:sp>
        <p:nvSpPr>
          <p:cNvPr id="5" name="Slide Number Placeholder 4">
            <a:extLst>
              <a:ext uri="{FF2B5EF4-FFF2-40B4-BE49-F238E27FC236}">
                <a16:creationId xmlns:a16="http://schemas.microsoft.com/office/drawing/2014/main" id="{B64D3185-09D8-0EAE-D363-A2B70C159A57}"/>
              </a:ext>
            </a:extLst>
          </p:cNvPr>
          <p:cNvSpPr>
            <a:spLocks noGrp="1"/>
          </p:cNvSpPr>
          <p:nvPr>
            <p:ph type="sldNum" sz="quarter" idx="4"/>
          </p:nvPr>
        </p:nvSpPr>
        <p:spPr/>
        <p:txBody>
          <a:bodyPr/>
          <a:lstStyle/>
          <a:p>
            <a:fld id="{1C8FA38B-43AE-4C7F-AC62-93C06D579860}" type="slidenum">
              <a:rPr lang="ko-KR" altLang="en-US" smtClean="0"/>
              <a:pPr/>
              <a:t>6</a:t>
            </a:fld>
            <a:endParaRPr lang="ko-KR" altLang="en-US" dirty="0"/>
          </a:p>
        </p:txBody>
      </p:sp>
      <p:pic>
        <p:nvPicPr>
          <p:cNvPr id="7" name="Picture 2" descr="BigComp 2026 Logo">
            <a:extLst>
              <a:ext uri="{FF2B5EF4-FFF2-40B4-BE49-F238E27FC236}">
                <a16:creationId xmlns:a16="http://schemas.microsoft.com/office/drawing/2014/main" id="{CFCEEAD5-F679-CB0D-3BDC-86FB07A9280E}"/>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15">
            <a:extLst>
              <a:ext uri="{FF2B5EF4-FFF2-40B4-BE49-F238E27FC236}">
                <a16:creationId xmlns:a16="http://schemas.microsoft.com/office/drawing/2014/main" id="{1068DB5E-1B53-C5C4-381F-634511A3F922}"/>
              </a:ext>
            </a:extLst>
          </p:cNvPr>
          <p:cNvGraphicFramePr>
            <a:graphicFrameLocks noGrp="1"/>
          </p:cNvGraphicFramePr>
          <p:nvPr>
            <p:extLst>
              <p:ext uri="{D42A27DB-BD31-4B8C-83A1-F6EECF244321}">
                <p14:modId xmlns:p14="http://schemas.microsoft.com/office/powerpoint/2010/main" val="3643293677"/>
              </p:ext>
            </p:extLst>
          </p:nvPr>
        </p:nvGraphicFramePr>
        <p:xfrm>
          <a:off x="476250" y="1282238"/>
          <a:ext cx="4984750" cy="4294221"/>
        </p:xfrm>
        <a:graphic>
          <a:graphicData uri="http://schemas.openxmlformats.org/drawingml/2006/table">
            <a:tbl>
              <a:tblPr firstRow="1" bandRow="1">
                <a:tableStyleId>{5C22544A-7EE6-4342-B048-85BDC9FD1C3A}</a:tableStyleId>
              </a:tblPr>
              <a:tblGrid>
                <a:gridCol w="1809750">
                  <a:extLst>
                    <a:ext uri="{9D8B030D-6E8A-4147-A177-3AD203B41FA5}">
                      <a16:colId xmlns:a16="http://schemas.microsoft.com/office/drawing/2014/main" val="2431749451"/>
                    </a:ext>
                  </a:extLst>
                </a:gridCol>
                <a:gridCol w="1369545">
                  <a:extLst>
                    <a:ext uri="{9D8B030D-6E8A-4147-A177-3AD203B41FA5}">
                      <a16:colId xmlns:a16="http://schemas.microsoft.com/office/drawing/2014/main" val="3073021049"/>
                    </a:ext>
                  </a:extLst>
                </a:gridCol>
                <a:gridCol w="1805455">
                  <a:extLst>
                    <a:ext uri="{9D8B030D-6E8A-4147-A177-3AD203B41FA5}">
                      <a16:colId xmlns:a16="http://schemas.microsoft.com/office/drawing/2014/main" val="4273933222"/>
                    </a:ext>
                  </a:extLst>
                </a:gridCol>
              </a:tblGrid>
              <a:tr h="360460">
                <a:tc>
                  <a:txBody>
                    <a:bodyPr/>
                    <a:lstStyle/>
                    <a:p>
                      <a:pPr rtl="0">
                        <a:buNone/>
                      </a:pPr>
                      <a:r>
                        <a:rPr lang="en-US" sz="1000" b="1">
                          <a:solidFill>
                            <a:srgbClr val="1F1F1F"/>
                          </a:solidFill>
                          <a:effectLst/>
                          <a:latin typeface="Google Sans Text"/>
                        </a:rPr>
                        <a:t>Method</a:t>
                      </a:r>
                      <a:endParaRPr lang="en-US" sz="100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Dataset</a:t>
                      </a:r>
                      <a:endParaRPr lang="en-US" sz="100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WER (%)</a:t>
                      </a:r>
                      <a:endParaRPr lang="en-US" sz="1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503093592"/>
                  </a:ext>
                </a:extLst>
              </a:tr>
              <a:tr h="360460">
                <a:tc>
                  <a:txBody>
                    <a:bodyPr/>
                    <a:lstStyle/>
                    <a:p>
                      <a:pPr rtl="0">
                        <a:buNone/>
                      </a:pPr>
                      <a:r>
                        <a:rPr lang="it-IT" sz="1000" b="1">
                          <a:solidFill>
                            <a:srgbClr val="1F1F1F"/>
                          </a:solidFill>
                          <a:effectLst/>
                          <a:latin typeface="Google Sans Text"/>
                        </a:rPr>
                        <a:t>Spatio-Temporal</a:t>
                      </a:r>
                      <a:r>
                        <a:rPr lang="it-IT" sz="1000">
                          <a:solidFill>
                            <a:srgbClr val="1F1F1F"/>
                          </a:solidFill>
                          <a:effectLst/>
                          <a:latin typeface="Google Sans Text"/>
                        </a:rPr>
                        <a:t> Aditya et al (2022) </a:t>
                      </a:r>
                    </a:p>
                  </a:txBody>
                  <a:tcPr marL="114300" marR="114300" marT="76200" marB="76200" anchor="ctr"/>
                </a:tc>
                <a:tc>
                  <a:txBody>
                    <a:bodyPr/>
                    <a:lstStyle/>
                    <a:p>
                      <a:pPr rtl="0">
                        <a:buNone/>
                      </a:pPr>
                      <a:r>
                        <a:rPr lang="en-US" sz="1000">
                          <a:solidFill>
                            <a:srgbClr val="1F1F1F"/>
                          </a:solidFill>
                          <a:effectLst/>
                          <a:latin typeface="Google Sans Text"/>
                        </a:rPr>
                        <a:t>PHOENIX 2014</a:t>
                      </a:r>
                    </a:p>
                  </a:txBody>
                  <a:tcPr marL="114300" marR="114300" marT="76200" marB="76200" anchor="ctr"/>
                </a:tc>
                <a:tc>
                  <a:txBody>
                    <a:bodyPr/>
                    <a:lstStyle/>
                    <a:p>
                      <a:pPr rtl="0">
                        <a:buNone/>
                      </a:pPr>
                      <a:r>
                        <a:rPr lang="en-US" sz="1000">
                          <a:solidFill>
                            <a:srgbClr val="1F1F1F"/>
                          </a:solidFill>
                          <a:effectLst/>
                          <a:latin typeface="Google Sans Text"/>
                        </a:rPr>
                        <a:t>21.5</a:t>
                      </a:r>
                    </a:p>
                  </a:txBody>
                  <a:tcPr marL="114300" marR="114300" marT="76200" marB="76200" anchor="ctr"/>
                </a:tc>
                <a:extLst>
                  <a:ext uri="{0D108BD9-81ED-4DB2-BD59-A6C34878D82A}">
                    <a16:rowId xmlns:a16="http://schemas.microsoft.com/office/drawing/2014/main" val="2760569930"/>
                  </a:ext>
                </a:extLst>
              </a:tr>
              <a:tr h="360460">
                <a:tc>
                  <a:txBody>
                    <a:bodyPr/>
                    <a:lstStyle/>
                    <a:p>
                      <a:pPr rtl="0">
                        <a:buNone/>
                      </a:pPr>
                      <a:r>
                        <a:rPr lang="da-DK" sz="1000" b="1">
                          <a:solidFill>
                            <a:srgbClr val="1F1F1F"/>
                          </a:solidFill>
                          <a:effectLst/>
                          <a:latin typeface="Google Sans Text"/>
                        </a:rPr>
                        <a:t>PMTSN</a:t>
                      </a:r>
                      <a:r>
                        <a:rPr lang="da-DK" sz="1000">
                          <a:solidFill>
                            <a:srgbClr val="1F1F1F"/>
                          </a:solidFill>
                          <a:effectLst/>
                          <a:latin typeface="Google Sans Text"/>
                        </a:rPr>
                        <a:t> Chen et al (2022) </a:t>
                      </a:r>
                    </a:p>
                  </a:txBody>
                  <a:tcPr marL="114300" marR="114300" marT="76200" marB="76200" anchor="ctr"/>
                </a:tc>
                <a:tc>
                  <a:txBody>
                    <a:bodyPr/>
                    <a:lstStyle/>
                    <a:p>
                      <a:pPr rtl="0">
                        <a:buNone/>
                      </a:pPr>
                      <a:r>
                        <a:rPr lang="en-US" sz="1000">
                          <a:solidFill>
                            <a:srgbClr val="1F1F1F"/>
                          </a:solidFill>
                          <a:effectLst/>
                          <a:latin typeface="Google Sans Text"/>
                        </a:rPr>
                        <a:t>PHOENIX 2014</a:t>
                      </a:r>
                    </a:p>
                  </a:txBody>
                  <a:tcPr marL="114300" marR="114300" marT="76200" marB="76200" anchor="ctr"/>
                </a:tc>
                <a:tc>
                  <a:txBody>
                    <a:bodyPr/>
                    <a:lstStyle/>
                    <a:p>
                      <a:pPr rtl="0">
                        <a:buNone/>
                      </a:pPr>
                      <a:r>
                        <a:rPr lang="en-US" sz="1000">
                          <a:solidFill>
                            <a:srgbClr val="1F1F1F"/>
                          </a:solidFill>
                          <a:effectLst/>
                          <a:latin typeface="Google Sans Text"/>
                        </a:rPr>
                        <a:t>21.2</a:t>
                      </a:r>
                    </a:p>
                  </a:txBody>
                  <a:tcPr marL="114300" marR="114300" marT="76200" marB="76200" anchor="ctr"/>
                </a:tc>
                <a:extLst>
                  <a:ext uri="{0D108BD9-81ED-4DB2-BD59-A6C34878D82A}">
                    <a16:rowId xmlns:a16="http://schemas.microsoft.com/office/drawing/2014/main" val="4282180878"/>
                  </a:ext>
                </a:extLst>
              </a:tr>
              <a:tr h="360460">
                <a:tc>
                  <a:txBody>
                    <a:bodyPr/>
                    <a:lstStyle/>
                    <a:p>
                      <a:pPr rtl="0">
                        <a:buNone/>
                      </a:pPr>
                      <a:r>
                        <a:rPr lang="en-US" sz="1000" b="1">
                          <a:solidFill>
                            <a:srgbClr val="1F1F1F"/>
                          </a:solidFill>
                          <a:effectLst/>
                          <a:latin typeface="Google Sans Text"/>
                        </a:rPr>
                        <a:t>S.E.</a:t>
                      </a:r>
                      <a:r>
                        <a:rPr lang="en-US" sz="1000">
                          <a:solidFill>
                            <a:srgbClr val="1F1F1F"/>
                          </a:solidFill>
                          <a:effectLst/>
                          <a:latin typeface="Google Sans Text"/>
                        </a:rPr>
                        <a:t> Zhu et al (2023) </a:t>
                      </a:r>
                    </a:p>
                  </a:txBody>
                  <a:tcPr marL="114300" marR="114300" marT="76200" marB="76200" anchor="ctr"/>
                </a:tc>
                <a:tc>
                  <a:txBody>
                    <a:bodyPr/>
                    <a:lstStyle/>
                    <a:p>
                      <a:pPr rtl="0">
                        <a:buNone/>
                      </a:pPr>
                      <a:r>
                        <a:rPr lang="en-US" sz="1000">
                          <a:solidFill>
                            <a:srgbClr val="1F1F1F"/>
                          </a:solidFill>
                          <a:effectLst/>
                          <a:latin typeface="Google Sans Text"/>
                        </a:rPr>
                        <a:t>PHOENIX 2014</a:t>
                      </a:r>
                    </a:p>
                  </a:txBody>
                  <a:tcPr marL="114300" marR="114300" marT="76200" marB="76200" anchor="ctr"/>
                </a:tc>
                <a:tc>
                  <a:txBody>
                    <a:bodyPr/>
                    <a:lstStyle/>
                    <a:p>
                      <a:pPr rtl="0">
                        <a:buNone/>
                      </a:pPr>
                      <a:r>
                        <a:rPr lang="en-US" sz="1000">
                          <a:solidFill>
                            <a:srgbClr val="1F1F1F"/>
                          </a:solidFill>
                          <a:effectLst/>
                          <a:latin typeface="Google Sans Text"/>
                        </a:rPr>
                        <a:t>20.9</a:t>
                      </a:r>
                    </a:p>
                  </a:txBody>
                  <a:tcPr marL="114300" marR="114300" marT="76200" marB="76200" anchor="ctr"/>
                </a:tc>
                <a:extLst>
                  <a:ext uri="{0D108BD9-81ED-4DB2-BD59-A6C34878D82A}">
                    <a16:rowId xmlns:a16="http://schemas.microsoft.com/office/drawing/2014/main" val="1785832174"/>
                  </a:ext>
                </a:extLst>
              </a:tr>
              <a:tr h="360460">
                <a:tc>
                  <a:txBody>
                    <a:bodyPr/>
                    <a:lstStyle/>
                    <a:p>
                      <a:pPr rtl="0">
                        <a:buNone/>
                      </a:pPr>
                      <a:r>
                        <a:rPr lang="da-DK" sz="1000" b="1" dirty="0">
                          <a:solidFill>
                            <a:srgbClr val="1F1F1F"/>
                          </a:solidFill>
                          <a:effectLst/>
                          <a:latin typeface="Google Sans Text"/>
                        </a:rPr>
                        <a:t>C</a:t>
                      </a:r>
                      <a:r>
                        <a:rPr lang="da-DK" sz="1000" b="1" baseline="30000" dirty="0">
                          <a:solidFill>
                            <a:srgbClr val="1F1F1F"/>
                          </a:solidFill>
                          <a:effectLst/>
                          <a:latin typeface="Google Sans Text"/>
                        </a:rPr>
                        <a:t>2</a:t>
                      </a:r>
                      <a:r>
                        <a:rPr lang="da-DK" sz="1000" b="1" dirty="0">
                          <a:solidFill>
                            <a:srgbClr val="1F1F1F"/>
                          </a:solidFill>
                          <a:effectLst/>
                          <a:latin typeface="Google Sans Text"/>
                        </a:rPr>
                        <a:t>SLR</a:t>
                      </a:r>
                      <a:r>
                        <a:rPr lang="da-DK" sz="1000" dirty="0">
                          <a:solidFill>
                            <a:srgbClr val="1F1F1F"/>
                          </a:solidFill>
                          <a:effectLst/>
                          <a:latin typeface="Google Sans Text"/>
                        </a:rPr>
                        <a:t> Zuo et al (2022) </a:t>
                      </a:r>
                    </a:p>
                  </a:txBody>
                  <a:tcPr marL="114300" marR="114300" marT="76200" marB="76200" anchor="ctr"/>
                </a:tc>
                <a:tc>
                  <a:txBody>
                    <a:bodyPr/>
                    <a:lstStyle/>
                    <a:p>
                      <a:pPr rtl="0">
                        <a:buNone/>
                      </a:pPr>
                      <a:r>
                        <a:rPr lang="en-US" sz="1000">
                          <a:solidFill>
                            <a:srgbClr val="1F1F1F"/>
                          </a:solidFill>
                          <a:effectLst/>
                          <a:latin typeface="Google Sans Text"/>
                        </a:rPr>
                        <a:t>PHOENIX 2014T</a:t>
                      </a:r>
                    </a:p>
                  </a:txBody>
                  <a:tcPr marL="114300" marR="114300" marT="76200" marB="76200" anchor="ctr"/>
                </a:tc>
                <a:tc>
                  <a:txBody>
                    <a:bodyPr/>
                    <a:lstStyle/>
                    <a:p>
                      <a:pPr rtl="0">
                        <a:buNone/>
                      </a:pPr>
                      <a:r>
                        <a:rPr lang="en-US" sz="1000">
                          <a:solidFill>
                            <a:srgbClr val="1F1F1F"/>
                          </a:solidFill>
                          <a:effectLst/>
                          <a:latin typeface="Google Sans Text"/>
                        </a:rPr>
                        <a:t>20.4</a:t>
                      </a:r>
                    </a:p>
                  </a:txBody>
                  <a:tcPr marL="114300" marR="114300" marT="76200" marB="76200" anchor="ctr"/>
                </a:tc>
                <a:extLst>
                  <a:ext uri="{0D108BD9-81ED-4DB2-BD59-A6C34878D82A}">
                    <a16:rowId xmlns:a16="http://schemas.microsoft.com/office/drawing/2014/main" val="114477132"/>
                  </a:ext>
                </a:extLst>
              </a:tr>
              <a:tr h="360460">
                <a:tc>
                  <a:txBody>
                    <a:bodyPr/>
                    <a:lstStyle/>
                    <a:p>
                      <a:pPr rtl="0">
                        <a:buNone/>
                      </a:pPr>
                      <a:r>
                        <a:rPr lang="fi-FI" sz="1000" b="1">
                          <a:solidFill>
                            <a:srgbClr val="1F1F1F"/>
                          </a:solidFill>
                          <a:effectLst/>
                          <a:latin typeface="Google Sans Text"/>
                        </a:rPr>
                        <a:t>SEN</a:t>
                      </a:r>
                      <a:r>
                        <a:rPr lang="fi-FI" sz="1000">
                          <a:solidFill>
                            <a:srgbClr val="1F1F1F"/>
                          </a:solidFill>
                          <a:effectLst/>
                          <a:latin typeface="Google Sans Text"/>
                        </a:rPr>
                        <a:t> Hu et al (2023) </a:t>
                      </a:r>
                    </a:p>
                  </a:txBody>
                  <a:tcPr marL="114300" marR="114300" marT="76200" marB="76200" anchor="ctr"/>
                </a:tc>
                <a:tc>
                  <a:txBody>
                    <a:bodyPr/>
                    <a:lstStyle/>
                    <a:p>
                      <a:pPr rtl="0">
                        <a:buNone/>
                      </a:pPr>
                      <a:r>
                        <a:rPr lang="en-US" sz="1000">
                          <a:solidFill>
                            <a:srgbClr val="1F1F1F"/>
                          </a:solidFill>
                          <a:effectLst/>
                          <a:latin typeface="Google Sans Text"/>
                        </a:rPr>
                        <a:t>PHOENIX 2014T</a:t>
                      </a:r>
                    </a:p>
                  </a:txBody>
                  <a:tcPr marL="114300" marR="114300" marT="76200" marB="76200" anchor="ctr"/>
                </a:tc>
                <a:tc>
                  <a:txBody>
                    <a:bodyPr/>
                    <a:lstStyle/>
                    <a:p>
                      <a:pPr rtl="0">
                        <a:buNone/>
                      </a:pPr>
                      <a:r>
                        <a:rPr lang="en-US" sz="1000">
                          <a:solidFill>
                            <a:srgbClr val="1F1F1F"/>
                          </a:solidFill>
                          <a:effectLst/>
                          <a:latin typeface="Google Sans Text"/>
                        </a:rPr>
                        <a:t>21.0</a:t>
                      </a:r>
                    </a:p>
                  </a:txBody>
                  <a:tcPr marL="114300" marR="114300" marT="76200" marB="76200" anchor="ctr"/>
                </a:tc>
                <a:extLst>
                  <a:ext uri="{0D108BD9-81ED-4DB2-BD59-A6C34878D82A}">
                    <a16:rowId xmlns:a16="http://schemas.microsoft.com/office/drawing/2014/main" val="3314778499"/>
                  </a:ext>
                </a:extLst>
              </a:tr>
              <a:tr h="360460">
                <a:tc>
                  <a:txBody>
                    <a:bodyPr/>
                    <a:lstStyle/>
                    <a:p>
                      <a:pPr rtl="0">
                        <a:buNone/>
                      </a:pPr>
                      <a:r>
                        <a:rPr lang="en-US" sz="1000" b="1">
                          <a:solidFill>
                            <a:srgbClr val="1F1F1F"/>
                          </a:solidFill>
                          <a:effectLst/>
                          <a:latin typeface="Google Sans Text"/>
                        </a:rPr>
                        <a:t>Consistency</a:t>
                      </a:r>
                      <a:r>
                        <a:rPr lang="en-US" sz="1000">
                          <a:solidFill>
                            <a:srgbClr val="1F1F1F"/>
                          </a:solidFill>
                          <a:effectLst/>
                          <a:latin typeface="Google Sans Text"/>
                        </a:rPr>
                        <a:t> Zuo et al (2024) </a:t>
                      </a:r>
                    </a:p>
                  </a:txBody>
                  <a:tcPr marL="114300" marR="114300" marT="76200" marB="76200" anchor="ctr"/>
                </a:tc>
                <a:tc>
                  <a:txBody>
                    <a:bodyPr/>
                    <a:lstStyle/>
                    <a:p>
                      <a:pPr rtl="0">
                        <a:buNone/>
                      </a:pPr>
                      <a:r>
                        <a:rPr lang="en-US" sz="1000">
                          <a:solidFill>
                            <a:srgbClr val="1F1F1F"/>
                          </a:solidFill>
                          <a:effectLst/>
                          <a:latin typeface="Google Sans Text"/>
                        </a:rPr>
                        <a:t>PHOENIX 2014T</a:t>
                      </a:r>
                    </a:p>
                  </a:txBody>
                  <a:tcPr marL="114300" marR="114300" marT="76200" marB="76200" anchor="ctr"/>
                </a:tc>
                <a:tc>
                  <a:txBody>
                    <a:bodyPr/>
                    <a:lstStyle/>
                    <a:p>
                      <a:pPr rtl="0">
                        <a:buNone/>
                      </a:pPr>
                      <a:r>
                        <a:rPr lang="en-US" sz="1000">
                          <a:solidFill>
                            <a:srgbClr val="1F1F1F"/>
                          </a:solidFill>
                          <a:effectLst/>
                          <a:latin typeface="Google Sans Text"/>
                        </a:rPr>
                        <a:t>20.4</a:t>
                      </a:r>
                    </a:p>
                  </a:txBody>
                  <a:tcPr marL="114300" marR="114300" marT="76200" marB="76200" anchor="ctr"/>
                </a:tc>
                <a:extLst>
                  <a:ext uri="{0D108BD9-81ED-4DB2-BD59-A6C34878D82A}">
                    <a16:rowId xmlns:a16="http://schemas.microsoft.com/office/drawing/2014/main" val="3030509550"/>
                  </a:ext>
                </a:extLst>
              </a:tr>
              <a:tr h="360460">
                <a:tc>
                  <a:txBody>
                    <a:bodyPr/>
                    <a:lstStyle/>
                    <a:p>
                      <a:pPr rtl="0">
                        <a:buNone/>
                      </a:pPr>
                      <a:r>
                        <a:rPr lang="da-DK" sz="1000" b="1">
                          <a:solidFill>
                            <a:srgbClr val="1F1F1F"/>
                          </a:solidFill>
                          <a:effectLst/>
                          <a:latin typeface="Google Sans Text"/>
                        </a:rPr>
                        <a:t>SignGraph</a:t>
                      </a:r>
                      <a:r>
                        <a:rPr lang="da-DK" sz="1000">
                          <a:solidFill>
                            <a:srgbClr val="1F1F1F"/>
                          </a:solidFill>
                          <a:effectLst/>
                          <a:latin typeface="Google Sans Text"/>
                        </a:rPr>
                        <a:t> Gan et al (2024) </a:t>
                      </a:r>
                    </a:p>
                  </a:txBody>
                  <a:tcPr marL="114300" marR="114300" marT="76200" marB="76200" anchor="ctr"/>
                </a:tc>
                <a:tc>
                  <a:txBody>
                    <a:bodyPr/>
                    <a:lstStyle/>
                    <a:p>
                      <a:pPr rtl="0">
                        <a:buNone/>
                      </a:pPr>
                      <a:r>
                        <a:rPr lang="en-US" sz="1000">
                          <a:solidFill>
                            <a:srgbClr val="1F1F1F"/>
                          </a:solidFill>
                          <a:effectLst/>
                          <a:latin typeface="Google Sans Text"/>
                        </a:rPr>
                        <a:t>PHOENIX 2014T</a:t>
                      </a:r>
                    </a:p>
                  </a:txBody>
                  <a:tcPr marL="114300" marR="114300" marT="76200" marB="76200" anchor="ctr"/>
                </a:tc>
                <a:tc>
                  <a:txBody>
                    <a:bodyPr/>
                    <a:lstStyle/>
                    <a:p>
                      <a:pPr rtl="0">
                        <a:buNone/>
                      </a:pPr>
                      <a:r>
                        <a:rPr lang="en-US" sz="1000">
                          <a:solidFill>
                            <a:srgbClr val="1F1F1F"/>
                          </a:solidFill>
                          <a:effectLst/>
                          <a:latin typeface="Google Sans Text"/>
                        </a:rPr>
                        <a:t>20.1</a:t>
                      </a:r>
                    </a:p>
                  </a:txBody>
                  <a:tcPr marL="114300" marR="114300" marT="76200" marB="76200" anchor="ctr"/>
                </a:tc>
                <a:extLst>
                  <a:ext uri="{0D108BD9-81ED-4DB2-BD59-A6C34878D82A}">
                    <a16:rowId xmlns:a16="http://schemas.microsoft.com/office/drawing/2014/main" val="2265046416"/>
                  </a:ext>
                </a:extLst>
              </a:tr>
              <a:tr h="360460">
                <a:tc>
                  <a:txBody>
                    <a:bodyPr/>
                    <a:lstStyle/>
                    <a:p>
                      <a:pPr rtl="0">
                        <a:buNone/>
                      </a:pPr>
                      <a:r>
                        <a:rPr lang="en-US" sz="1000" b="1">
                          <a:solidFill>
                            <a:srgbClr val="1F1F1F"/>
                          </a:solidFill>
                          <a:effectLst/>
                          <a:latin typeface="Google Sans Text"/>
                        </a:rPr>
                        <a:t>SlowFast</a:t>
                      </a:r>
                      <a:r>
                        <a:rPr lang="en-US" sz="1000">
                          <a:solidFill>
                            <a:srgbClr val="1F1F1F"/>
                          </a:solidFill>
                          <a:effectLst/>
                          <a:latin typeface="Google Sans Text"/>
                        </a:rPr>
                        <a:t> Ahn et al (2024) </a:t>
                      </a:r>
                    </a:p>
                  </a:txBody>
                  <a:tcPr marL="114300" marR="114300" marT="76200" marB="76200" anchor="ctr"/>
                </a:tc>
                <a:tc>
                  <a:txBody>
                    <a:bodyPr/>
                    <a:lstStyle/>
                    <a:p>
                      <a:pPr rtl="0">
                        <a:buNone/>
                      </a:pPr>
                      <a:r>
                        <a:rPr lang="en-US" sz="1000">
                          <a:solidFill>
                            <a:srgbClr val="1F1F1F"/>
                          </a:solidFill>
                          <a:effectLst/>
                          <a:latin typeface="Google Sans Text"/>
                        </a:rPr>
                        <a:t>PHOENIX 2014T</a:t>
                      </a:r>
                    </a:p>
                  </a:txBody>
                  <a:tcPr marL="114300" marR="114300" marT="76200" marB="76200" anchor="ctr"/>
                </a:tc>
                <a:tc>
                  <a:txBody>
                    <a:bodyPr/>
                    <a:lstStyle/>
                    <a:p>
                      <a:pPr rtl="0">
                        <a:buNone/>
                      </a:pPr>
                      <a:r>
                        <a:rPr lang="en-US" sz="1000">
                          <a:solidFill>
                            <a:srgbClr val="1F1F1F"/>
                          </a:solidFill>
                          <a:effectLst/>
                          <a:latin typeface="Google Sans Text"/>
                        </a:rPr>
                        <a:t>18.3</a:t>
                      </a:r>
                    </a:p>
                  </a:txBody>
                  <a:tcPr marL="114300" marR="114300" marT="76200" marB="76200" anchor="ctr"/>
                </a:tc>
                <a:extLst>
                  <a:ext uri="{0D108BD9-81ED-4DB2-BD59-A6C34878D82A}">
                    <a16:rowId xmlns:a16="http://schemas.microsoft.com/office/drawing/2014/main" val="3906730380"/>
                  </a:ext>
                </a:extLst>
              </a:tr>
              <a:tr h="592184">
                <a:tc>
                  <a:txBody>
                    <a:bodyPr/>
                    <a:lstStyle/>
                    <a:p>
                      <a:pPr rtl="0">
                        <a:buNone/>
                      </a:pPr>
                      <a:r>
                        <a:rPr lang="en-US" sz="1000" b="1" dirty="0">
                          <a:solidFill>
                            <a:srgbClr val="1F1F1F"/>
                          </a:solidFill>
                          <a:effectLst/>
                          <a:latin typeface="Google Sans Text"/>
                        </a:rPr>
                        <a:t>Baseline (Video + Keypoint)</a:t>
                      </a:r>
                      <a:endParaRPr lang="en-US" sz="1000" dirty="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PHOENIX 2014T</a:t>
                      </a:r>
                      <a:endParaRPr lang="en-US" sz="100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18.35</a:t>
                      </a:r>
                      <a:endParaRPr lang="en-US" sz="1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865795465"/>
                  </a:ext>
                </a:extLst>
              </a:tr>
              <a:tr h="361157">
                <a:tc>
                  <a:txBody>
                    <a:bodyPr/>
                    <a:lstStyle/>
                    <a:p>
                      <a:pPr rtl="0">
                        <a:buNone/>
                      </a:pPr>
                      <a:r>
                        <a:rPr lang="en-US" sz="1000" b="1" dirty="0">
                          <a:solidFill>
                            <a:srgbClr val="1F1F1F"/>
                          </a:solidFill>
                          <a:effectLst/>
                          <a:latin typeface="Google Sans Text"/>
                        </a:rPr>
                        <a:t>+ Doppler Stream (Ours)</a:t>
                      </a:r>
                      <a:endParaRPr lang="en-US" sz="1000" dirty="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PHOENIX 2014T</a:t>
                      </a:r>
                      <a:endParaRPr lang="en-US" sz="1000">
                        <a:solidFill>
                          <a:srgbClr val="1F1F1F"/>
                        </a:solidFill>
                        <a:effectLst/>
                        <a:latin typeface="Google Sans Text"/>
                      </a:endParaRPr>
                    </a:p>
                  </a:txBody>
                  <a:tcPr marL="114300" marR="114300" marT="76200" marB="76200" anchor="ctr"/>
                </a:tc>
                <a:tc>
                  <a:txBody>
                    <a:bodyPr/>
                    <a:lstStyle/>
                    <a:p>
                      <a:pPr rtl="0">
                        <a:buNone/>
                      </a:pPr>
                      <a:r>
                        <a:rPr lang="en-US" sz="1000" b="1" dirty="0">
                          <a:solidFill>
                            <a:srgbClr val="1F1F1F"/>
                          </a:solidFill>
                          <a:effectLst/>
                          <a:latin typeface="Google Sans Text"/>
                        </a:rPr>
                        <a:t>18.05</a:t>
                      </a:r>
                      <a:endParaRPr lang="en-US" sz="10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816287351"/>
                  </a:ext>
                </a:extLst>
              </a:tr>
            </a:tbl>
          </a:graphicData>
        </a:graphic>
      </p:graphicFrame>
      <p:graphicFrame>
        <p:nvGraphicFramePr>
          <p:cNvPr id="18" name="Table 17">
            <a:extLst>
              <a:ext uri="{FF2B5EF4-FFF2-40B4-BE49-F238E27FC236}">
                <a16:creationId xmlns:a16="http://schemas.microsoft.com/office/drawing/2014/main" id="{CE64C998-07EE-4624-B0FC-D723C9A08979}"/>
              </a:ext>
            </a:extLst>
          </p:cNvPr>
          <p:cNvGraphicFramePr>
            <a:graphicFrameLocks noGrp="1"/>
          </p:cNvGraphicFramePr>
          <p:nvPr>
            <p:extLst>
              <p:ext uri="{D42A27DB-BD31-4B8C-83A1-F6EECF244321}">
                <p14:modId xmlns:p14="http://schemas.microsoft.com/office/powerpoint/2010/main" val="2790707850"/>
              </p:ext>
            </p:extLst>
          </p:nvPr>
        </p:nvGraphicFramePr>
        <p:xfrm>
          <a:off x="6731002" y="1262283"/>
          <a:ext cx="4851399" cy="4294220"/>
        </p:xfrm>
        <a:graphic>
          <a:graphicData uri="http://schemas.openxmlformats.org/drawingml/2006/table">
            <a:tbl>
              <a:tblPr firstRow="1" bandRow="1">
                <a:tableStyleId>{5C22544A-7EE6-4342-B048-85BDC9FD1C3A}</a:tableStyleId>
              </a:tblPr>
              <a:tblGrid>
                <a:gridCol w="2127248">
                  <a:extLst>
                    <a:ext uri="{9D8B030D-6E8A-4147-A177-3AD203B41FA5}">
                      <a16:colId xmlns:a16="http://schemas.microsoft.com/office/drawing/2014/main" val="460582774"/>
                    </a:ext>
                  </a:extLst>
                </a:gridCol>
                <a:gridCol w="1295400">
                  <a:extLst>
                    <a:ext uri="{9D8B030D-6E8A-4147-A177-3AD203B41FA5}">
                      <a16:colId xmlns:a16="http://schemas.microsoft.com/office/drawing/2014/main" val="1848848204"/>
                    </a:ext>
                  </a:extLst>
                </a:gridCol>
                <a:gridCol w="1428751">
                  <a:extLst>
                    <a:ext uri="{9D8B030D-6E8A-4147-A177-3AD203B41FA5}">
                      <a16:colId xmlns:a16="http://schemas.microsoft.com/office/drawing/2014/main" val="899430088"/>
                    </a:ext>
                  </a:extLst>
                </a:gridCol>
              </a:tblGrid>
              <a:tr h="338116">
                <a:tc>
                  <a:txBody>
                    <a:bodyPr/>
                    <a:lstStyle/>
                    <a:p>
                      <a:pPr rtl="0">
                        <a:buNone/>
                      </a:pPr>
                      <a:r>
                        <a:rPr lang="en-US" sz="1000" b="1">
                          <a:solidFill>
                            <a:srgbClr val="1F1F1F"/>
                          </a:solidFill>
                          <a:effectLst/>
                          <a:latin typeface="Google Sans Text"/>
                        </a:rPr>
                        <a:t>Method</a:t>
                      </a:r>
                      <a:endParaRPr lang="en-US" sz="100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Dataset</a:t>
                      </a:r>
                      <a:endParaRPr lang="en-US" sz="100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WER (%)</a:t>
                      </a:r>
                      <a:endParaRPr lang="en-US" sz="1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977028694"/>
                  </a:ext>
                </a:extLst>
              </a:tr>
              <a:tr h="450548">
                <a:tc>
                  <a:txBody>
                    <a:bodyPr/>
                    <a:lstStyle/>
                    <a:p>
                      <a:pPr rtl="0">
                        <a:buNone/>
                      </a:pPr>
                      <a:r>
                        <a:rPr lang="fr-FR" sz="1000" b="1">
                          <a:solidFill>
                            <a:srgbClr val="1F1F1F"/>
                          </a:solidFill>
                          <a:effectLst/>
                          <a:latin typeface="Google Sans Text"/>
                        </a:rPr>
                        <a:t>SubUNets</a:t>
                      </a:r>
                      <a:r>
                        <a:rPr lang="fr-FR" sz="1000">
                          <a:solidFill>
                            <a:srgbClr val="1F1F1F"/>
                          </a:solidFill>
                          <a:effectLst/>
                          <a:latin typeface="Google Sans Text"/>
                        </a:rPr>
                        <a:t> Cihan Camgoz et al (2017)</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41.0</a:t>
                      </a:r>
                    </a:p>
                  </a:txBody>
                  <a:tcPr marL="114300" marR="114300" marT="76200" marB="76200" anchor="ctr"/>
                </a:tc>
                <a:extLst>
                  <a:ext uri="{0D108BD9-81ED-4DB2-BD59-A6C34878D82A}">
                    <a16:rowId xmlns:a16="http://schemas.microsoft.com/office/drawing/2014/main" val="4209847022"/>
                  </a:ext>
                </a:extLst>
              </a:tr>
              <a:tr h="338116">
                <a:tc>
                  <a:txBody>
                    <a:bodyPr/>
                    <a:lstStyle/>
                    <a:p>
                      <a:pPr rtl="0">
                        <a:buNone/>
                      </a:pPr>
                      <a:r>
                        <a:rPr lang="en-US" sz="1000" b="1">
                          <a:solidFill>
                            <a:srgbClr val="1F1F1F"/>
                          </a:solidFill>
                          <a:effectLst/>
                          <a:latin typeface="Google Sans Text"/>
                        </a:rPr>
                        <a:t>FCN</a:t>
                      </a:r>
                      <a:r>
                        <a:rPr lang="en-US" sz="1000">
                          <a:solidFill>
                            <a:srgbClr val="1F1F1F"/>
                          </a:solidFill>
                          <a:effectLst/>
                          <a:latin typeface="Google Sans Text"/>
                        </a:rPr>
                        <a:t> Cheng et al (2020)</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33.5</a:t>
                      </a:r>
                    </a:p>
                  </a:txBody>
                  <a:tcPr marL="114300" marR="114300" marT="76200" marB="76200" anchor="ctr"/>
                </a:tc>
                <a:extLst>
                  <a:ext uri="{0D108BD9-81ED-4DB2-BD59-A6C34878D82A}">
                    <a16:rowId xmlns:a16="http://schemas.microsoft.com/office/drawing/2014/main" val="3522757349"/>
                  </a:ext>
                </a:extLst>
              </a:tr>
              <a:tr h="450548">
                <a:tc>
                  <a:txBody>
                    <a:bodyPr/>
                    <a:lstStyle/>
                    <a:p>
                      <a:pPr rtl="0">
                        <a:buNone/>
                      </a:pPr>
                      <a:r>
                        <a:rPr lang="fr-FR" sz="1000" b="1" dirty="0">
                          <a:solidFill>
                            <a:srgbClr val="1F1F1F"/>
                          </a:solidFill>
                          <a:effectLst/>
                          <a:latin typeface="Google Sans Text"/>
                        </a:rPr>
                        <a:t>Joint-SLRT</a:t>
                      </a:r>
                      <a:r>
                        <a:rPr lang="fr-FR" sz="1000" dirty="0">
                          <a:solidFill>
                            <a:srgbClr val="1F1F1F"/>
                          </a:solidFill>
                          <a:effectLst/>
                          <a:latin typeface="Google Sans Text"/>
                        </a:rPr>
                        <a:t> </a:t>
                      </a:r>
                      <a:r>
                        <a:rPr lang="fr-FR" sz="1000" dirty="0" err="1">
                          <a:solidFill>
                            <a:srgbClr val="1F1F1F"/>
                          </a:solidFill>
                          <a:effectLst/>
                          <a:latin typeface="Google Sans Text"/>
                        </a:rPr>
                        <a:t>Camgoz</a:t>
                      </a:r>
                      <a:r>
                        <a:rPr lang="fr-FR" sz="1000" dirty="0">
                          <a:solidFill>
                            <a:srgbClr val="1F1F1F"/>
                          </a:solidFill>
                          <a:effectLst/>
                          <a:latin typeface="Google Sans Text"/>
                        </a:rPr>
                        <a:t> et al (2020)</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32.0</a:t>
                      </a:r>
                    </a:p>
                  </a:txBody>
                  <a:tcPr marL="114300" marR="114300" marT="76200" marB="76200" anchor="ctr"/>
                </a:tc>
                <a:extLst>
                  <a:ext uri="{0D108BD9-81ED-4DB2-BD59-A6C34878D82A}">
                    <a16:rowId xmlns:a16="http://schemas.microsoft.com/office/drawing/2014/main" val="1404039938"/>
                  </a:ext>
                </a:extLst>
              </a:tr>
              <a:tr h="338116">
                <a:tc>
                  <a:txBody>
                    <a:bodyPr/>
                    <a:lstStyle/>
                    <a:p>
                      <a:pPr rtl="0">
                        <a:buNone/>
                      </a:pPr>
                      <a:r>
                        <a:rPr lang="en-US" sz="1000" b="1" dirty="0" err="1">
                          <a:solidFill>
                            <a:srgbClr val="1F1F1F"/>
                          </a:solidFill>
                          <a:effectLst/>
                          <a:latin typeface="Google Sans Text"/>
                        </a:rPr>
                        <a:t>SignBT</a:t>
                      </a:r>
                      <a:r>
                        <a:rPr lang="en-US" sz="1000" dirty="0">
                          <a:solidFill>
                            <a:srgbClr val="1F1F1F"/>
                          </a:solidFill>
                          <a:effectLst/>
                          <a:latin typeface="Google Sans Text"/>
                        </a:rPr>
                        <a:t> Zhou et al (2021)</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33.2</a:t>
                      </a:r>
                    </a:p>
                  </a:txBody>
                  <a:tcPr marL="114300" marR="114300" marT="76200" marB="76200" anchor="ctr"/>
                </a:tc>
                <a:extLst>
                  <a:ext uri="{0D108BD9-81ED-4DB2-BD59-A6C34878D82A}">
                    <a16:rowId xmlns:a16="http://schemas.microsoft.com/office/drawing/2014/main" val="3584020011"/>
                  </a:ext>
                </a:extLst>
              </a:tr>
              <a:tr h="417332">
                <a:tc>
                  <a:txBody>
                    <a:bodyPr/>
                    <a:lstStyle/>
                    <a:p>
                      <a:pPr rtl="0">
                        <a:buNone/>
                      </a:pPr>
                      <a:r>
                        <a:rPr lang="da-DK" sz="1000" b="1" dirty="0">
                          <a:solidFill>
                            <a:srgbClr val="1F1F1F"/>
                          </a:solidFill>
                          <a:effectLst/>
                          <a:latin typeface="Google Sans Text"/>
                        </a:rPr>
                        <a:t>CorrNet</a:t>
                      </a:r>
                      <a:r>
                        <a:rPr lang="da-DK" sz="1000" dirty="0">
                          <a:solidFill>
                            <a:srgbClr val="1F1F1F"/>
                          </a:solidFill>
                          <a:effectLst/>
                          <a:latin typeface="Google Sans Text"/>
                        </a:rPr>
                        <a:t> Hu et al (2023)</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30.1</a:t>
                      </a:r>
                    </a:p>
                  </a:txBody>
                  <a:tcPr marL="114300" marR="114300" marT="76200" marB="76200" anchor="ctr"/>
                </a:tc>
                <a:extLst>
                  <a:ext uri="{0D108BD9-81ED-4DB2-BD59-A6C34878D82A}">
                    <a16:rowId xmlns:a16="http://schemas.microsoft.com/office/drawing/2014/main" val="862687137"/>
                  </a:ext>
                </a:extLst>
              </a:tr>
              <a:tr h="450548">
                <a:tc>
                  <a:txBody>
                    <a:bodyPr/>
                    <a:lstStyle/>
                    <a:p>
                      <a:pPr rtl="0">
                        <a:buNone/>
                      </a:pPr>
                      <a:r>
                        <a:rPr lang="da-DK" sz="1000" b="1" dirty="0">
                          <a:solidFill>
                            <a:srgbClr val="1F1F1F"/>
                          </a:solidFill>
                          <a:effectLst/>
                          <a:latin typeface="Google Sans Text"/>
                        </a:rPr>
                        <a:t>TwoStream-SLR</a:t>
                      </a:r>
                      <a:r>
                        <a:rPr lang="da-DK" sz="1000" dirty="0">
                          <a:solidFill>
                            <a:srgbClr val="1F1F1F"/>
                          </a:solidFill>
                          <a:effectLst/>
                          <a:latin typeface="Google Sans Text"/>
                        </a:rPr>
                        <a:t> Chen et al (2022)</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25.3</a:t>
                      </a:r>
                    </a:p>
                  </a:txBody>
                  <a:tcPr marL="114300" marR="114300" marT="76200" marB="76200" anchor="ctr"/>
                </a:tc>
                <a:extLst>
                  <a:ext uri="{0D108BD9-81ED-4DB2-BD59-A6C34878D82A}">
                    <a16:rowId xmlns:a16="http://schemas.microsoft.com/office/drawing/2014/main" val="583176763"/>
                  </a:ext>
                </a:extLst>
              </a:tr>
              <a:tr h="338116">
                <a:tc>
                  <a:txBody>
                    <a:bodyPr/>
                    <a:lstStyle/>
                    <a:p>
                      <a:pPr rtl="0">
                        <a:buNone/>
                      </a:pPr>
                      <a:r>
                        <a:rPr lang="fr-FR" sz="1000" b="1">
                          <a:solidFill>
                            <a:srgbClr val="1F1F1F"/>
                          </a:solidFill>
                          <a:effectLst/>
                          <a:latin typeface="Google Sans Text"/>
                        </a:rPr>
                        <a:t>CTCA</a:t>
                      </a:r>
                      <a:r>
                        <a:rPr lang="fr-FR" sz="1000">
                          <a:solidFill>
                            <a:srgbClr val="1F1F1F"/>
                          </a:solidFill>
                          <a:effectLst/>
                          <a:latin typeface="Google Sans Text"/>
                        </a:rPr>
                        <a:t> Guo et al (2023)</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a:solidFill>
                            <a:srgbClr val="1F1F1F"/>
                          </a:solidFill>
                          <a:effectLst/>
                          <a:latin typeface="Google Sans Text"/>
                        </a:rPr>
                        <a:t>29.4</a:t>
                      </a:r>
                    </a:p>
                  </a:txBody>
                  <a:tcPr marL="114300" marR="114300" marT="76200" marB="76200" anchor="ctr"/>
                </a:tc>
                <a:extLst>
                  <a:ext uri="{0D108BD9-81ED-4DB2-BD59-A6C34878D82A}">
                    <a16:rowId xmlns:a16="http://schemas.microsoft.com/office/drawing/2014/main" val="879919463"/>
                  </a:ext>
                </a:extLst>
              </a:tr>
              <a:tr h="417332">
                <a:tc>
                  <a:txBody>
                    <a:bodyPr/>
                    <a:lstStyle/>
                    <a:p>
                      <a:pPr rtl="0">
                        <a:buNone/>
                      </a:pPr>
                      <a:r>
                        <a:rPr lang="en-US" sz="1000" b="1" dirty="0" err="1">
                          <a:solidFill>
                            <a:srgbClr val="1F1F1F"/>
                          </a:solidFill>
                          <a:effectLst/>
                          <a:latin typeface="Google Sans Text"/>
                        </a:rPr>
                        <a:t>AdaBrowse</a:t>
                      </a:r>
                      <a:r>
                        <a:rPr lang="en-US" sz="1000" b="1" dirty="0">
                          <a:solidFill>
                            <a:srgbClr val="1F1F1F"/>
                          </a:solidFill>
                          <a:effectLst/>
                          <a:latin typeface="Google Sans Text"/>
                        </a:rPr>
                        <a:t>+</a:t>
                      </a:r>
                      <a:r>
                        <a:rPr lang="en-US" sz="1000" dirty="0">
                          <a:solidFill>
                            <a:srgbClr val="1F1F1F"/>
                          </a:solidFill>
                          <a:effectLst/>
                          <a:latin typeface="Google Sans Text"/>
                        </a:rPr>
                        <a:t> Hu et al (2023)</a:t>
                      </a:r>
                    </a:p>
                  </a:txBody>
                  <a:tcPr marL="114300" marR="114300" marT="76200" marB="76200" anchor="ctr"/>
                </a:tc>
                <a:tc>
                  <a:txBody>
                    <a:bodyPr/>
                    <a:lstStyle/>
                    <a:p>
                      <a:pPr rtl="0">
                        <a:buNone/>
                      </a:pPr>
                      <a:r>
                        <a:rPr lang="en-US" sz="1000">
                          <a:solidFill>
                            <a:srgbClr val="1F1F1F"/>
                          </a:solidFill>
                          <a:effectLst/>
                          <a:latin typeface="Google Sans Text"/>
                        </a:rPr>
                        <a:t>CSL-Daily</a:t>
                      </a:r>
                    </a:p>
                  </a:txBody>
                  <a:tcPr marL="114300" marR="114300" marT="76200" marB="76200" anchor="ctr"/>
                </a:tc>
                <a:tc>
                  <a:txBody>
                    <a:bodyPr/>
                    <a:lstStyle/>
                    <a:p>
                      <a:pPr rtl="0">
                        <a:buNone/>
                      </a:pPr>
                      <a:r>
                        <a:rPr lang="en-US" sz="1000" dirty="0">
                          <a:solidFill>
                            <a:srgbClr val="1F1F1F"/>
                          </a:solidFill>
                          <a:effectLst/>
                          <a:latin typeface="Google Sans Text"/>
                        </a:rPr>
                        <a:t>30.7</a:t>
                      </a:r>
                    </a:p>
                  </a:txBody>
                  <a:tcPr marL="114300" marR="114300" marT="76200" marB="76200" anchor="ctr"/>
                </a:tc>
                <a:extLst>
                  <a:ext uri="{0D108BD9-81ED-4DB2-BD59-A6C34878D82A}">
                    <a16:rowId xmlns:a16="http://schemas.microsoft.com/office/drawing/2014/main" val="1229403463"/>
                  </a:ext>
                </a:extLst>
              </a:tr>
              <a:tr h="338116">
                <a:tc>
                  <a:txBody>
                    <a:bodyPr/>
                    <a:lstStyle/>
                    <a:p>
                      <a:pPr rtl="0">
                        <a:buNone/>
                      </a:pPr>
                      <a:r>
                        <a:rPr lang="en-US" sz="1000" b="1" dirty="0">
                          <a:solidFill>
                            <a:srgbClr val="1F1F1F"/>
                          </a:solidFill>
                          <a:effectLst/>
                          <a:latin typeface="Google Sans Text"/>
                        </a:rPr>
                        <a:t>Baseline (Video + Keypoint)</a:t>
                      </a:r>
                      <a:endParaRPr lang="en-US" sz="1000" dirty="0">
                        <a:solidFill>
                          <a:srgbClr val="1F1F1F"/>
                        </a:solidFill>
                        <a:effectLst/>
                        <a:latin typeface="Google Sans Text"/>
                      </a:endParaRPr>
                    </a:p>
                  </a:txBody>
                  <a:tcPr marL="114300" marR="114300" marT="76200" marB="76200" anchor="ctr"/>
                </a:tc>
                <a:tc>
                  <a:txBody>
                    <a:bodyPr/>
                    <a:lstStyle/>
                    <a:p>
                      <a:pPr rtl="0">
                        <a:buNone/>
                      </a:pPr>
                      <a:r>
                        <a:rPr lang="en-US" sz="1000" b="1" dirty="0">
                          <a:solidFill>
                            <a:srgbClr val="1F1F1F"/>
                          </a:solidFill>
                          <a:effectLst/>
                          <a:latin typeface="Google Sans Text"/>
                        </a:rPr>
                        <a:t>CSL-Daily</a:t>
                      </a:r>
                    </a:p>
                  </a:txBody>
                  <a:tcPr marL="114300" marR="114300" marT="76200" marB="76200" anchor="ctr"/>
                </a:tc>
                <a:tc>
                  <a:txBody>
                    <a:bodyPr/>
                    <a:lstStyle/>
                    <a:p>
                      <a:pPr rtl="0">
                        <a:buNone/>
                      </a:pPr>
                      <a:r>
                        <a:rPr lang="en-US" sz="1000" b="1" dirty="0">
                          <a:solidFill>
                            <a:srgbClr val="1F1F1F"/>
                          </a:solidFill>
                          <a:effectLst/>
                          <a:latin typeface="Google Sans Text"/>
                        </a:rPr>
                        <a:t>25.8</a:t>
                      </a:r>
                    </a:p>
                  </a:txBody>
                  <a:tcPr marL="114300" marR="114300" marT="76200" marB="76200" anchor="ctr"/>
                </a:tc>
                <a:extLst>
                  <a:ext uri="{0D108BD9-81ED-4DB2-BD59-A6C34878D82A}">
                    <a16:rowId xmlns:a16="http://schemas.microsoft.com/office/drawing/2014/main" val="821417629"/>
                  </a:ext>
                </a:extLst>
              </a:tr>
              <a:tr h="417332">
                <a:tc>
                  <a:txBody>
                    <a:bodyPr/>
                    <a:lstStyle/>
                    <a:p>
                      <a:pPr rtl="0">
                        <a:buNone/>
                      </a:pPr>
                      <a:r>
                        <a:rPr lang="en-US" sz="1000" b="1" dirty="0">
                          <a:solidFill>
                            <a:srgbClr val="1F1F1F"/>
                          </a:solidFill>
                          <a:effectLst/>
                          <a:latin typeface="Google Sans Text"/>
                        </a:rPr>
                        <a:t>+ Doppler Stream (Ours)</a:t>
                      </a:r>
                      <a:endParaRPr lang="en-US" sz="1000" dirty="0">
                        <a:solidFill>
                          <a:srgbClr val="1F1F1F"/>
                        </a:solidFill>
                        <a:effectLst/>
                        <a:latin typeface="Google Sans Text"/>
                      </a:endParaRPr>
                    </a:p>
                  </a:txBody>
                  <a:tcPr marL="114300" marR="114300" marT="76200" marB="76200" anchor="ctr"/>
                </a:tc>
                <a:tc>
                  <a:txBody>
                    <a:bodyPr/>
                    <a:lstStyle/>
                    <a:p>
                      <a:pPr rtl="0">
                        <a:buNone/>
                      </a:pPr>
                      <a:r>
                        <a:rPr lang="en-US" sz="1000" b="1">
                          <a:solidFill>
                            <a:srgbClr val="1F1F1F"/>
                          </a:solidFill>
                          <a:effectLst/>
                          <a:latin typeface="Google Sans Text"/>
                        </a:rPr>
                        <a:t>CSL-Daily</a:t>
                      </a:r>
                    </a:p>
                  </a:txBody>
                  <a:tcPr marL="114300" marR="114300" marT="76200" marB="76200" anchor="ctr"/>
                </a:tc>
                <a:tc>
                  <a:txBody>
                    <a:bodyPr/>
                    <a:lstStyle/>
                    <a:p>
                      <a:pPr rtl="0">
                        <a:buNone/>
                      </a:pPr>
                      <a:r>
                        <a:rPr lang="en-US" sz="1000" b="1" dirty="0">
                          <a:solidFill>
                            <a:srgbClr val="1F1F1F"/>
                          </a:solidFill>
                          <a:effectLst/>
                          <a:latin typeface="Google Sans Text"/>
                        </a:rPr>
                        <a:t>24.9</a:t>
                      </a:r>
                    </a:p>
                  </a:txBody>
                  <a:tcPr marL="114300" marR="114300" marT="76200" marB="76200" anchor="ctr"/>
                </a:tc>
                <a:extLst>
                  <a:ext uri="{0D108BD9-81ED-4DB2-BD59-A6C34878D82A}">
                    <a16:rowId xmlns:a16="http://schemas.microsoft.com/office/drawing/2014/main" val="337332387"/>
                  </a:ext>
                </a:extLst>
              </a:tr>
            </a:tbl>
          </a:graphicData>
        </a:graphic>
      </p:graphicFrame>
    </p:spTree>
    <p:extLst>
      <p:ext uri="{BB962C8B-B14F-4D97-AF65-F5344CB8AC3E}">
        <p14:creationId xmlns:p14="http://schemas.microsoft.com/office/powerpoint/2010/main" val="3779836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1A788-629F-B61C-042C-5612BF928A67}"/>
              </a:ext>
            </a:extLst>
          </p:cNvPr>
          <p:cNvSpPr>
            <a:spLocks noGrp="1"/>
          </p:cNvSpPr>
          <p:nvPr>
            <p:ph type="title"/>
          </p:nvPr>
        </p:nvSpPr>
        <p:spPr/>
        <p:txBody>
          <a:bodyPr/>
          <a:lstStyle/>
          <a:p>
            <a:r>
              <a:rPr lang="en-US" dirty="0"/>
              <a:t>Efficiency &amp; Robustness</a:t>
            </a:r>
          </a:p>
        </p:txBody>
      </p:sp>
      <p:sp>
        <p:nvSpPr>
          <p:cNvPr id="3" name="Content Placeholder 2">
            <a:extLst>
              <a:ext uri="{FF2B5EF4-FFF2-40B4-BE49-F238E27FC236}">
                <a16:creationId xmlns:a16="http://schemas.microsoft.com/office/drawing/2014/main" id="{C969ACD7-C6A9-723F-4244-848296BFC4B9}"/>
              </a:ext>
            </a:extLst>
          </p:cNvPr>
          <p:cNvSpPr>
            <a:spLocks noGrp="1"/>
          </p:cNvSpPr>
          <p:nvPr>
            <p:ph idx="1"/>
          </p:nvPr>
        </p:nvSpPr>
        <p:spPr/>
        <p:txBody>
          <a:bodyPr/>
          <a:lstStyle/>
          <a:p>
            <a:r>
              <a:rPr lang="en-US" dirty="0"/>
              <a:t>Efficiency (The "Big" Win):</a:t>
            </a:r>
          </a:p>
          <a:p>
            <a:pPr lvl="1"/>
            <a:r>
              <a:rPr lang="en-US" b="1" dirty="0"/>
              <a:t>Model Size:</a:t>
            </a:r>
            <a:r>
              <a:rPr lang="en-US" dirty="0"/>
              <a:t> Only </a:t>
            </a:r>
            <a:r>
              <a:rPr lang="en-US" b="1" dirty="0"/>
              <a:t>74 MB</a:t>
            </a:r>
            <a:r>
              <a:rPr lang="en-US" dirty="0"/>
              <a:t>.</a:t>
            </a:r>
          </a:p>
          <a:p>
            <a:pPr lvl="1"/>
            <a:r>
              <a:rPr lang="en-US" b="1" dirty="0"/>
              <a:t>GFLOPs:</a:t>
            </a:r>
            <a:r>
              <a:rPr lang="en-US" dirty="0"/>
              <a:t> </a:t>
            </a:r>
            <a:r>
              <a:rPr lang="en-US" b="1" dirty="0"/>
              <a:t>120.0 GFLOPs</a:t>
            </a:r>
            <a:r>
              <a:rPr lang="en-US" dirty="0"/>
              <a:t> (vs. 521.3 for ICASSP '24).</a:t>
            </a:r>
          </a:p>
          <a:p>
            <a:pPr lvl="1"/>
            <a:r>
              <a:rPr lang="en-US" b="1" dirty="0"/>
              <a:t>Reduction:</a:t>
            </a:r>
            <a:r>
              <a:rPr lang="en-US" dirty="0"/>
              <a:t> </a:t>
            </a:r>
            <a:r>
              <a:rPr lang="en-US" b="1" dirty="0"/>
              <a:t>77% reduction</a:t>
            </a:r>
            <a:r>
              <a:rPr lang="en-US" dirty="0"/>
              <a:t> in computational cost.</a:t>
            </a:r>
          </a:p>
          <a:p>
            <a:pPr lvl="1"/>
            <a:endParaRPr lang="en-US" dirty="0"/>
          </a:p>
          <a:p>
            <a:r>
              <a:rPr lang="en-US" dirty="0"/>
              <a:t>Robustness (Edge Cases)</a:t>
            </a:r>
          </a:p>
          <a:p>
            <a:pPr lvl="1"/>
            <a:r>
              <a:rPr lang="de-DE" b="1" dirty="0"/>
              <a:t>Rapid Gestures:</a:t>
            </a:r>
            <a:r>
              <a:rPr lang="de-DE" dirty="0"/>
              <a:t> 20.7% WER (vs. 21.0% Baseline).</a:t>
            </a:r>
          </a:p>
          <a:p>
            <a:pPr lvl="1"/>
            <a:r>
              <a:rPr lang="en-US" dirty="0"/>
              <a:t>Doppler turns "blur" into a signal strength proportional to velocity.</a:t>
            </a:r>
            <a:endParaRPr lang="de-DE" dirty="0"/>
          </a:p>
          <a:p>
            <a:pPr lvl="1"/>
            <a:endParaRPr lang="en-US" dirty="0"/>
          </a:p>
        </p:txBody>
      </p:sp>
      <p:sp>
        <p:nvSpPr>
          <p:cNvPr id="4" name="Footer Placeholder 3">
            <a:extLst>
              <a:ext uri="{FF2B5EF4-FFF2-40B4-BE49-F238E27FC236}">
                <a16:creationId xmlns:a16="http://schemas.microsoft.com/office/drawing/2014/main" id="{11E1CCB3-72DA-DEBD-3028-DA583233576C}"/>
              </a:ext>
            </a:extLst>
          </p:cNvPr>
          <p:cNvSpPr>
            <a:spLocks noGrp="1"/>
          </p:cNvSpPr>
          <p:nvPr>
            <p:ph type="ftr" sz="quarter" idx="11"/>
          </p:nvPr>
        </p:nvSpPr>
        <p:spPr/>
        <p:txBody>
          <a:bodyPr/>
          <a:lstStyle/>
          <a:p>
            <a:endParaRPr lang="ko-KR" altLang="en-US" dirty="0"/>
          </a:p>
        </p:txBody>
      </p:sp>
      <p:sp>
        <p:nvSpPr>
          <p:cNvPr id="5" name="Slide Number Placeholder 4">
            <a:extLst>
              <a:ext uri="{FF2B5EF4-FFF2-40B4-BE49-F238E27FC236}">
                <a16:creationId xmlns:a16="http://schemas.microsoft.com/office/drawing/2014/main" id="{FF2145C7-14B9-4F1E-C3AF-0D39D1311493}"/>
              </a:ext>
            </a:extLst>
          </p:cNvPr>
          <p:cNvSpPr>
            <a:spLocks noGrp="1"/>
          </p:cNvSpPr>
          <p:nvPr>
            <p:ph type="sldNum" sz="quarter" idx="4"/>
          </p:nvPr>
        </p:nvSpPr>
        <p:spPr/>
        <p:txBody>
          <a:bodyPr/>
          <a:lstStyle/>
          <a:p>
            <a:fld id="{1C8FA38B-43AE-4C7F-AC62-93C06D579860}" type="slidenum">
              <a:rPr lang="ko-KR" altLang="en-US" smtClean="0"/>
              <a:pPr/>
              <a:t>7</a:t>
            </a:fld>
            <a:endParaRPr lang="ko-KR" altLang="en-US" dirty="0"/>
          </a:p>
        </p:txBody>
      </p:sp>
      <p:pic>
        <p:nvPicPr>
          <p:cNvPr id="6" name="Picture 2" descr="BigComp 2026 Logo">
            <a:extLst>
              <a:ext uri="{FF2B5EF4-FFF2-40B4-BE49-F238E27FC236}">
                <a16:creationId xmlns:a16="http://schemas.microsoft.com/office/drawing/2014/main" id="{150F1693-5A3A-8B28-12C8-720A098D9576}"/>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044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32944-9AE3-E033-DBAC-B99F3E2134E0}"/>
              </a:ext>
            </a:extLst>
          </p:cNvPr>
          <p:cNvSpPr>
            <a:spLocks noGrp="1"/>
          </p:cNvSpPr>
          <p:nvPr>
            <p:ph type="title"/>
          </p:nvPr>
        </p:nvSpPr>
        <p:spPr/>
        <p:txBody>
          <a:bodyPr/>
          <a:lstStyle/>
          <a:p>
            <a:r>
              <a:rPr lang="en-US" dirty="0"/>
              <a:t>Conclusion &amp; Future Work</a:t>
            </a:r>
          </a:p>
        </p:txBody>
      </p:sp>
      <p:sp>
        <p:nvSpPr>
          <p:cNvPr id="3" name="Content Placeholder 2">
            <a:extLst>
              <a:ext uri="{FF2B5EF4-FFF2-40B4-BE49-F238E27FC236}">
                <a16:creationId xmlns:a16="http://schemas.microsoft.com/office/drawing/2014/main" id="{BDBE80EF-50C8-14A2-39D3-A697948FF4EB}"/>
              </a:ext>
            </a:extLst>
          </p:cNvPr>
          <p:cNvSpPr>
            <a:spLocks noGrp="1"/>
          </p:cNvSpPr>
          <p:nvPr>
            <p:ph idx="1"/>
          </p:nvPr>
        </p:nvSpPr>
        <p:spPr/>
        <p:txBody>
          <a:bodyPr/>
          <a:lstStyle/>
          <a:p>
            <a:r>
              <a:rPr lang="en-US" dirty="0"/>
              <a:t>Summary:</a:t>
            </a:r>
          </a:p>
          <a:p>
            <a:pPr lvl="1"/>
            <a:r>
              <a:rPr lang="en-US" dirty="0"/>
              <a:t>Proposed a </a:t>
            </a:r>
            <a:r>
              <a:rPr lang="en-US" b="1" dirty="0"/>
              <a:t>Doppler Motion Stream</a:t>
            </a:r>
            <a:r>
              <a:rPr lang="en-US" dirty="0"/>
              <a:t> for interpretable, efficient SLR.</a:t>
            </a:r>
          </a:p>
          <a:p>
            <a:pPr lvl="1"/>
            <a:r>
              <a:rPr lang="en-US" dirty="0"/>
              <a:t>Achieved </a:t>
            </a:r>
            <a:r>
              <a:rPr lang="en-US" b="1" dirty="0"/>
              <a:t>SOTA (18.05% WER)</a:t>
            </a:r>
            <a:r>
              <a:rPr lang="en-US" dirty="0"/>
              <a:t> with a lightweight footprint.</a:t>
            </a:r>
          </a:p>
          <a:p>
            <a:endParaRPr lang="en-US" dirty="0"/>
          </a:p>
          <a:p>
            <a:r>
              <a:rPr lang="en-US" dirty="0"/>
              <a:t>Future Directions:</a:t>
            </a:r>
          </a:p>
          <a:p>
            <a:pPr lvl="1"/>
            <a:r>
              <a:rPr lang="en-US" dirty="0"/>
              <a:t>Deploying on edge devices (mobile/tablets).</a:t>
            </a:r>
          </a:p>
          <a:p>
            <a:pPr lvl="1"/>
            <a:r>
              <a:rPr lang="en-US" dirty="0"/>
              <a:t>Integrating Doppler stream into </a:t>
            </a:r>
            <a:r>
              <a:rPr lang="en-US" b="1" dirty="0"/>
              <a:t>Sign Language Translation (SLT)</a:t>
            </a:r>
            <a:r>
              <a:rPr lang="en-US" dirty="0"/>
              <a:t> tasks.</a:t>
            </a:r>
          </a:p>
          <a:p>
            <a:pPr marL="457200" lvl="1" indent="0">
              <a:buNone/>
            </a:pPr>
            <a:endParaRPr lang="en-US" dirty="0"/>
          </a:p>
        </p:txBody>
      </p:sp>
      <p:sp>
        <p:nvSpPr>
          <p:cNvPr id="4" name="Footer Placeholder 3">
            <a:extLst>
              <a:ext uri="{FF2B5EF4-FFF2-40B4-BE49-F238E27FC236}">
                <a16:creationId xmlns:a16="http://schemas.microsoft.com/office/drawing/2014/main" id="{80B678FA-E78A-9446-10C9-937B3FEA4CDD}"/>
              </a:ext>
            </a:extLst>
          </p:cNvPr>
          <p:cNvSpPr>
            <a:spLocks noGrp="1"/>
          </p:cNvSpPr>
          <p:nvPr>
            <p:ph type="ftr" sz="quarter" idx="11"/>
          </p:nvPr>
        </p:nvSpPr>
        <p:spPr/>
        <p:txBody>
          <a:bodyPr/>
          <a:lstStyle/>
          <a:p>
            <a:endParaRPr lang="ko-KR" altLang="en-US" dirty="0"/>
          </a:p>
        </p:txBody>
      </p:sp>
      <p:sp>
        <p:nvSpPr>
          <p:cNvPr id="5" name="Slide Number Placeholder 4">
            <a:extLst>
              <a:ext uri="{FF2B5EF4-FFF2-40B4-BE49-F238E27FC236}">
                <a16:creationId xmlns:a16="http://schemas.microsoft.com/office/drawing/2014/main" id="{7E112CC1-9C61-9E4A-5E9F-120A478549D6}"/>
              </a:ext>
            </a:extLst>
          </p:cNvPr>
          <p:cNvSpPr>
            <a:spLocks noGrp="1"/>
          </p:cNvSpPr>
          <p:nvPr>
            <p:ph type="sldNum" sz="quarter" idx="4"/>
          </p:nvPr>
        </p:nvSpPr>
        <p:spPr/>
        <p:txBody>
          <a:bodyPr/>
          <a:lstStyle/>
          <a:p>
            <a:fld id="{1C8FA38B-43AE-4C7F-AC62-93C06D579860}" type="slidenum">
              <a:rPr lang="ko-KR" altLang="en-US" smtClean="0"/>
              <a:pPr/>
              <a:t>8</a:t>
            </a:fld>
            <a:endParaRPr lang="ko-KR" altLang="en-US" dirty="0"/>
          </a:p>
        </p:txBody>
      </p:sp>
      <p:pic>
        <p:nvPicPr>
          <p:cNvPr id="6" name="Picture 2" descr="BigComp 2026 Logo">
            <a:extLst>
              <a:ext uri="{FF2B5EF4-FFF2-40B4-BE49-F238E27FC236}">
                <a16:creationId xmlns:a16="http://schemas.microsoft.com/office/drawing/2014/main" id="{BB761A79-A5CD-D2FA-3EAD-BF479AB0B0C8}"/>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515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9953D-E887-BDAE-BAD6-7CCC1B12D11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BD357F5-111B-5242-E9B9-353F10B13E6E}"/>
              </a:ext>
            </a:extLst>
          </p:cNvPr>
          <p:cNvSpPr>
            <a:spLocks noGrp="1"/>
          </p:cNvSpPr>
          <p:nvPr>
            <p:ph idx="1"/>
          </p:nvPr>
        </p:nvSpPr>
        <p:spPr>
          <a:xfrm>
            <a:off x="4603751" y="2578100"/>
            <a:ext cx="3079750" cy="1289050"/>
          </a:xfrm>
        </p:spPr>
        <p:txBody>
          <a:bodyPr>
            <a:normAutofit/>
          </a:bodyPr>
          <a:lstStyle/>
          <a:p>
            <a:pPr marL="0" indent="0" algn="ctr">
              <a:buNone/>
            </a:pPr>
            <a:r>
              <a:rPr lang="en-US" dirty="0">
                <a:solidFill>
                  <a:schemeClr val="accent6"/>
                </a:solidFill>
              </a:rPr>
              <a:t>THANK YOU </a:t>
            </a:r>
          </a:p>
          <a:p>
            <a:pPr marL="0" indent="0" algn="ctr">
              <a:buNone/>
            </a:pPr>
            <a:r>
              <a:rPr lang="en-US" dirty="0"/>
              <a:t>QUESTIONS?</a:t>
            </a:r>
          </a:p>
        </p:txBody>
      </p:sp>
      <p:sp>
        <p:nvSpPr>
          <p:cNvPr id="4" name="Footer Placeholder 3">
            <a:extLst>
              <a:ext uri="{FF2B5EF4-FFF2-40B4-BE49-F238E27FC236}">
                <a16:creationId xmlns:a16="http://schemas.microsoft.com/office/drawing/2014/main" id="{106CAE13-C77B-1118-5A73-E57E6BE5C5BD}"/>
              </a:ext>
            </a:extLst>
          </p:cNvPr>
          <p:cNvSpPr>
            <a:spLocks noGrp="1"/>
          </p:cNvSpPr>
          <p:nvPr>
            <p:ph type="ftr" sz="quarter" idx="11"/>
          </p:nvPr>
        </p:nvSpPr>
        <p:spPr/>
        <p:txBody>
          <a:bodyPr/>
          <a:lstStyle/>
          <a:p>
            <a:pPr marL="0" indent="0">
              <a:buNone/>
            </a:pPr>
            <a:endParaRPr lang="ko-KR" altLang="en-US" dirty="0"/>
          </a:p>
        </p:txBody>
      </p:sp>
      <p:sp>
        <p:nvSpPr>
          <p:cNvPr id="5" name="Slide Number Placeholder 4">
            <a:extLst>
              <a:ext uri="{FF2B5EF4-FFF2-40B4-BE49-F238E27FC236}">
                <a16:creationId xmlns:a16="http://schemas.microsoft.com/office/drawing/2014/main" id="{AF7EC819-67A9-DDBB-BEE7-D6CE07EA7A5C}"/>
              </a:ext>
            </a:extLst>
          </p:cNvPr>
          <p:cNvSpPr>
            <a:spLocks noGrp="1"/>
          </p:cNvSpPr>
          <p:nvPr>
            <p:ph type="sldNum" sz="quarter" idx="4"/>
          </p:nvPr>
        </p:nvSpPr>
        <p:spPr/>
        <p:txBody>
          <a:bodyPr/>
          <a:lstStyle/>
          <a:p>
            <a:fld id="{1C8FA38B-43AE-4C7F-AC62-93C06D579860}" type="slidenum">
              <a:rPr lang="ko-KR" altLang="en-US" smtClean="0"/>
              <a:pPr/>
              <a:t>9</a:t>
            </a:fld>
            <a:endParaRPr lang="ko-KR" altLang="en-US" dirty="0"/>
          </a:p>
        </p:txBody>
      </p:sp>
      <p:pic>
        <p:nvPicPr>
          <p:cNvPr id="6" name="Picture 2" descr="BigComp 2026 Logo">
            <a:extLst>
              <a:ext uri="{FF2B5EF4-FFF2-40B4-BE49-F238E27FC236}">
                <a16:creationId xmlns:a16="http://schemas.microsoft.com/office/drawing/2014/main" id="{8494A4AD-3807-DFAF-F508-66A9B6A85647}"/>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9500579" y="6439061"/>
            <a:ext cx="1760278" cy="4114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CCCA5A3-3748-AA2C-90DD-594EAAFA1B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4286" y="4514850"/>
            <a:ext cx="1003428" cy="1003428"/>
          </a:xfrm>
          <a:prstGeom prst="rect">
            <a:avLst/>
          </a:prstGeom>
        </p:spPr>
      </p:pic>
    </p:spTree>
    <p:extLst>
      <p:ext uri="{BB962C8B-B14F-4D97-AF65-F5344CB8AC3E}">
        <p14:creationId xmlns:p14="http://schemas.microsoft.com/office/powerpoint/2010/main" val="4234105315"/>
      </p:ext>
    </p:extLst>
  </p:cSld>
  <p:clrMapOvr>
    <a:masterClrMapping/>
  </p:clrMapOvr>
</p:sld>
</file>

<file path=ppt/theme/theme1.xml><?xml version="1.0" encoding="utf-8"?>
<a:theme xmlns:a="http://schemas.openxmlformats.org/drawingml/2006/main" name="inh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nha" id="{0591E11C-CCD7-4E42-88D1-D8CFE4DDA414}" vid="{BC67CDBE-AB24-4C6A-9E59-6E318A07EA6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inha</Template>
  <TotalTime>4293</TotalTime>
  <Words>1622</Words>
  <Application>Microsoft Office PowerPoint</Application>
  <PresentationFormat>Widescreen</PresentationFormat>
  <Paragraphs>178</Paragraphs>
  <Slides>9</Slides>
  <Notes>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9</vt:i4>
      </vt:variant>
    </vt:vector>
  </HeadingPairs>
  <TitlesOfParts>
    <vt:vector size="21" baseType="lpstr">
      <vt:lpstr>Google Sans Text</vt:lpstr>
      <vt:lpstr>Noto Sans Symbols</vt:lpstr>
      <vt:lpstr>맑은 고딕</vt:lpstr>
      <vt:lpstr>Aptos</vt:lpstr>
      <vt:lpstr>Arial</vt:lpstr>
      <vt:lpstr>Bell MT</vt:lpstr>
      <vt:lpstr>Book Antiqua</vt:lpstr>
      <vt:lpstr>Times New Roman</vt:lpstr>
      <vt:lpstr>Wingdings</vt:lpstr>
      <vt:lpstr>inha</vt:lpstr>
      <vt:lpstr>Office 테마</vt:lpstr>
      <vt:lpstr>1_Office 테마</vt:lpstr>
      <vt:lpstr>Enhancing Sign Language Recognition: A Computationally  Efficient and Interpretable Multi-Modal Approach</vt:lpstr>
      <vt:lpstr>The "Robustness-Efficiency" Gap</vt:lpstr>
      <vt:lpstr>Our Solution – The Doppler-Enhanced Approach</vt:lpstr>
      <vt:lpstr>Methodology – The Multi-Stream Architecture</vt:lpstr>
      <vt:lpstr>Why "Doppler" is Better than Optical Flow</vt:lpstr>
      <vt:lpstr>Experimental Results</vt:lpstr>
      <vt:lpstr>Efficiency &amp; Robustness</vt:lpstr>
      <vt:lpstr>Conclusion &amp;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칭기즈투르순바예프</dc:creator>
  <cp:lastModifiedBy>칭기즈투르순바예프</cp:lastModifiedBy>
  <cp:revision>5</cp:revision>
  <dcterms:created xsi:type="dcterms:W3CDTF">2026-01-29T05:27:24Z</dcterms:created>
  <dcterms:modified xsi:type="dcterms:W3CDTF">2026-02-02T04:46:21Z</dcterms:modified>
</cp:coreProperties>
</file>